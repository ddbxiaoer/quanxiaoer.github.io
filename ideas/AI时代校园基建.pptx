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embedTrueTypeFonts="true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4"/>
    <p:sldId id="260" r:id="rId16"/>
    <p:sldId id="261" r:id="rId18"/>
    <p:sldId id="262" r:id="rId20"/>
    <p:sldId id="263" r:id="rId22"/>
    <p:sldId id="264" r:id="rId24"/>
    <p:sldId id="265" r:id="rId26"/>
    <p:sldId id="266" r:id="rId28"/>
    <p:sldId id="267" r:id="rId30"/>
    <p:sldId id="268" r:id="rId32"/>
    <p:sldId id="269" r:id="rId34"/>
    <p:sldId id="270" r:id="rId36"/>
    <p:sldId id="271" r:id="rId38"/>
  </p:sldIdLst>
  <p:sldSz cx="12192000" cy="6858000"/>
  <p:notesSz cx="6858000" cy="9144000"/>
  <p:embeddedFontLst>
    <p:embeddedFont>
      <p:font typeface="Inter"/>
      <p:regular r:id="rId40"/>
    </p:embeddedFont>
    <p:embeddedFont>
      <p:font typeface="FZYaYiHei GB18030L2 R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notesSlides/notesSlide3.xml" Type="http://schemas.openxmlformats.org/officeDocument/2006/relationships/notesSlide"/><Relationship Id="rId14" Target="slides/slide4.xml" Type="http://schemas.openxmlformats.org/officeDocument/2006/relationships/slide"/><Relationship Id="rId15" Target="notesSlides/notesSlide4.xml" Type="http://schemas.openxmlformats.org/officeDocument/2006/relationships/notesSlide"/><Relationship Id="rId16" Target="slides/slide5.xml" Type="http://schemas.openxmlformats.org/officeDocument/2006/relationships/slide"/><Relationship Id="rId17" Target="notesSlides/notesSlide5.xml" Type="http://schemas.openxmlformats.org/officeDocument/2006/relationships/notesSlide"/><Relationship Id="rId18" Target="slides/slide6.xml" Type="http://schemas.openxmlformats.org/officeDocument/2006/relationships/slide"/><Relationship Id="rId19" Target="notesSlides/notesSlide6.xml" Type="http://schemas.openxmlformats.org/officeDocument/2006/relationships/notesSlide"/><Relationship Id="rId2" Target="presProps.xml" Type="http://schemas.openxmlformats.org/officeDocument/2006/relationships/presProps"/><Relationship Id="rId20" Target="slides/slide7.xml" Type="http://schemas.openxmlformats.org/officeDocument/2006/relationships/slide"/><Relationship Id="rId21" Target="notesSlides/notesSlide7.xml" Type="http://schemas.openxmlformats.org/officeDocument/2006/relationships/notesSlide"/><Relationship Id="rId22" Target="slides/slide8.xml" Type="http://schemas.openxmlformats.org/officeDocument/2006/relationships/slide"/><Relationship Id="rId23" Target="notesSlides/notesSlide8.xml" Type="http://schemas.openxmlformats.org/officeDocument/2006/relationships/notesSlide"/><Relationship Id="rId24" Target="slides/slide9.xml" Type="http://schemas.openxmlformats.org/officeDocument/2006/relationships/slide"/><Relationship Id="rId25" Target="notesSlides/notesSlide9.xml" Type="http://schemas.openxmlformats.org/officeDocument/2006/relationships/notesSlide"/><Relationship Id="rId26" Target="slides/slide10.xml" Type="http://schemas.openxmlformats.org/officeDocument/2006/relationships/slide"/><Relationship Id="rId27" Target="notesSlides/notesSlide10.xml" Type="http://schemas.openxmlformats.org/officeDocument/2006/relationships/notesSlide"/><Relationship Id="rId28" Target="slides/slide11.xml" Type="http://schemas.openxmlformats.org/officeDocument/2006/relationships/slide"/><Relationship Id="rId29" Target="notesSlides/notesSlide11.xml" Type="http://schemas.openxmlformats.org/officeDocument/2006/relationships/notesSlide"/><Relationship Id="rId3" Target="viewProps.xml" Type="http://schemas.openxmlformats.org/officeDocument/2006/relationships/viewProps"/><Relationship Id="rId30" Target="slides/slide12.xml" Type="http://schemas.openxmlformats.org/officeDocument/2006/relationships/slide"/><Relationship Id="rId31" Target="notesSlides/notesSlide12.xml" Type="http://schemas.openxmlformats.org/officeDocument/2006/relationships/notesSlide"/><Relationship Id="rId32" Target="slides/slide13.xml" Type="http://schemas.openxmlformats.org/officeDocument/2006/relationships/slide"/><Relationship Id="rId33" Target="notesSlides/notesSlide13.xml" Type="http://schemas.openxmlformats.org/officeDocument/2006/relationships/notesSlide"/><Relationship Id="rId34" Target="slides/slide14.xml" Type="http://schemas.openxmlformats.org/officeDocument/2006/relationships/slide"/><Relationship Id="rId35" Target="notesSlides/notesSlide14.xml" Type="http://schemas.openxmlformats.org/officeDocument/2006/relationships/notesSlide"/><Relationship Id="rId36" Target="slides/slide15.xml" Type="http://schemas.openxmlformats.org/officeDocument/2006/relationships/slide"/><Relationship Id="rId37" Target="notesSlides/notesSlide15.xml" Type="http://schemas.openxmlformats.org/officeDocument/2006/relationships/notesSlide"/><Relationship Id="rId38" Target="slides/slide16.xml" Type="http://schemas.openxmlformats.org/officeDocument/2006/relationships/slide"/><Relationship Id="rId39" Target="notesSlides/notesSlide16.xml" Type="http://schemas.openxmlformats.org/officeDocument/2006/relationships/notesSlide"/><Relationship Id="rId4" Target="theme/theme1.xml" Type="http://schemas.openxmlformats.org/officeDocument/2006/relationships/theme"/><Relationship Id="rId40" Target="fonts/font1.fntdata" Type="http://schemas.openxmlformats.org/officeDocument/2006/relationships/font"/><Relationship Id="rId41" Target="fonts/font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各位领导、老师和技术同仁们，大家好。欢迎来到今天的分享会。今天我要和大家探讨的主题是“AI时代校园基建”。在大模型技术席卷全球的背景下，高校的信息化基础设施正面临着一次彻底的重构。我们将重点剖析如何构建一个校园开放平台，特别是如何通过MCP协议让AI真正接入校园网、图书馆等底层系统，并保障其安全可控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今天的报告将分为四个核心部分展开。首先，我们会审视传统校园系统面临的痛点以及AI时代带来的新诉求；其次，深入拆解校园开放平台的核心架构，特别是MCP协议的应用；第三部分，我们将聚焦大家最关心的安全问题，探讨密钥管理与零信任鉴权；最后，展望校级智能体生态的未来演进路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让我们先进入第一部分，聊聊AI时代校园基建的背景与挑战。在过去十几年里，高校信息化建设取得了很大成就，但面对今天大模型带来的范式革命，我们原有的系统架构是否还能支撑未来的智慧校园？这是我们需要首先回答的问题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看这页的对比。左边是我们熟悉的现状：教务、学工、财务系统各自为政，师生办个事要在五六个系统里来回切换，数据接口标准不一，形成了严重的信息壁垒。而右边是AI时代的新诉求：大模型不是用来看的，是用来干活的。它需要底层系统暴露出机器可读的API，需要标准化的工具调用协议。师生也期望以后办事就像聊天一样，一句话就能搞定，这就要求我们的平台必须具备跨系统的服务编排能力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种转变不是我们凭空想象的，而是技术发展和政策导向的必然结果。首先，NLP和知识图谱技术已经足够成熟，系统终于能听懂复杂的校务规则了，实现了“服务找人”。其次，像华中师范大学等标杆高校已经证明，专用大模型在公文生成、智能填表等场景能大幅提升效率。更重要的是，教育部“人工智能+教育”行动计划已经明确提出了建设教育智能算力服务平台的要求，这为我们高校基础设施的升级提供了最坚实的顶层设计支撑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明确了背景和挑战，接下来我们进入第二部分，也是最核心的部分：校园开放平台的架构设计。我们将为大家拆解这个平台是如何通过分层设计，将AI能力与校园底层系统完美融合在一起的。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大家看这张架构蓝图。我们采用了经典的四层架构。最上面是智能入口和前台，师生通过手机或电脑接入，前台的智能接口能自动避开故障节点，聚合各类服务。中间是AI中台，这是整个系统的大脑，它部署了大模型网关，并把校园系统的能力封装成了MCP工具集。最下面是算力底座和数据湖，提供智算能力和高质量的业务语料库。这四层紧密耦合，让AI不仅能“想”，还能安全地“做”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这里我要重点讲一下MCP协议，也就是模型上下文协议。它是连接大模型和校园底层系统的标准桥梁。以前我们对接系统，每个系统都要写一套定制代码，碎片化严重。现在有了MCP，大模型只需通过标准接口就能理解并调用系统能力。更关键的是，它不仅能查数据，还能执行“预约座位”、“充值校园卡”这样的动态操作。结合命令行工具，我们彻底抛弃了脆弱的图形界面自动化，让AI与系统的交互变得极其直接且安全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来看看MCP具体是怎么用在校园网和图书馆这两个最基础的系统的。对于校园网，我们封装了网络诊断、IP查询、限速解除等工具，AI助手可以直接帮学生排查故障，甚至一句话完成充值，大大减轻了IT服务台的压力。对于图书馆，除了常规的馆藏检索，我们还打通了空间预约系统，学生说“帮我找个明天下午有插座的自习位”，智能体就能自动完成资源分配和冲突协调。这就是把孤立的后台系统变成了AI随时可调度的服务节点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能力越大，责任越大。AI能直接操作校园底层系统，安全问题就成了悬在头顶的达摩克利斯之剑。第三部分，我们将详细汇报平台是如何通过零信任架构和严密的密钥管理，来构筑校园数据防线的。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我们平台的安全基石是“零信任”架构。AI在调用核心系统时，绝不是拿到一个超级管理员账号就畅通无阻了。我们采用了RBAC和ABAC双重机制，系统会根据学生的身份、所在院系甚至当前所处的网络环境，动态计算智能体的权限。对于像财务审批、成绩修改这种高风险操作，系统会强制触发人工二次授权。所有的调用请求都必须经过统一网关的实时校验，一旦发现异常频次或越权企图，系统会自动拦截，确保数据万无一失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访问密钥就是智能体连接校园系统的“数字通行证”。我们建立了一套全生命周期的管理闭环。在动态管理方面，我们为每个智能体实例生成唯一的非对称加密密钥对，并且支持自动化轮换，一旦发现潜在风险，系统会在不中断服务的情况下无缝更新密钥。在审计追踪方面，每一次API调用的时间、身份、参数都会被记录在不可篡改的区块链日志中。我们的安全看板能实时监测流量异常，必要时可以一键熔断高危智能体的权限，做到有迹可循、有据可查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有了坚实的架构和安全的底座，我们的最终目标是什么？是构建一个繁荣的智能体生态。最后一部分，我们将探讨如何通过校级AI中心和“驯养”机制，让校园里的数字劳动力持续成长。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校园开放平台的终极形态，不应该只是几个官方开发的工具，而应该是一个生态。我们规划了校级AI中心，统筹全校的算力和基础大模型，给师生提供低门槛的开发环境，避免各个院系重复造轮子。同时，我们推出了SKILLS广场，这就好比校园里的“App Store”，老师和学生开发者可以把基于MCP协议做好的工具传上去，供大家一键订阅。当然，自由不等于放任，平台会建立严格的上架审核机制，确保每一个工具都符合数据安全规范。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最后，我想强调一个理念：智能体不是买来就能用的标准软件，它是需要持续“驯养”的数字劳动力。所谓“驯”，就是建立边界。我们制定了任务负面清单，像学术评价、纪律处分这种高风险场景，AI只能做辅助，绝不能自动决策。同时，我们引入人类反馈强化学习，利用师生的纠错数据让模型越来越聪明。在责任链方面，我们确保关键业务始终有人工复核，并且建立了防范算法歧视和隐私泄露的专项审计机制。只有统筹好发展与安全，AI才能真正成为校园治理的好帮手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AI时代的校园基建，不仅是技术的升级，更是教育治理理念的重塑。通过MCP协议、零信任安全与开放的智能体生态，我们有信心为全校师生打造一个真正懂他们、帮他们、且安全可靠的智慧校园底座。感谢大家的聆听，接下来欢迎大家提问和交流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Relationship Id="rIdWatermark" Target="../media/watermark_aigc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notesSlides/notesSlide16.xml" Type="http://schemas.openxmlformats.org/officeDocument/2006/relationships/notesSlid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1827004" y="2729954"/>
            <a:ext cx="8534945" cy="79623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7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AI时代校园基建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2249942" y="3792884"/>
            <a:ext cx="7689068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校园开放平台架构与MCP生态设计</a:t>
            </a:r>
            <a:endParaRPr lang="en-US" sz="1100"/>
          </a:p>
        </p:txBody>
      </p:sp>
      <p:pic>
        <p:nvPicPr>
          <p:cNvPr id="99999" name="WatermarkAigc"/>
          <p:cNvPicPr>
            <a:picLocks noChangeAspect="1"/>
          </p:cNvPicPr>
          <p:nvPr/>
        </p:nvPicPr>
        <p:blipFill>
          <a:blip r:embed="rIdWatermark"/>
          <a:stretch>
            <a:fillRect/>
          </a:stretch>
        </p:blipFill>
        <p:spPr>
          <a:xfrm>
            <a:off x="10807700" y="6413500"/>
            <a:ext cx="1193800" cy="25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2710904"/>
            <a:ext cx="450732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Contents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3082379"/>
            <a:ext cx="4507323" cy="6000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42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目录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457086" y="3954809"/>
            <a:ext cx="4056487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70196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AI时代校园基建的整体架构设计与演进路径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5421494" y="173161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5421494" y="136966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9" name="TextBox 9"/>
          <p:cNvSpPr txBox="true"/>
          <p:nvPr/>
        </p:nvSpPr>
        <p:spPr>
          <a:xfrm flipH="false" flipV="false" rot="0">
            <a:off x="5840490" y="130299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AI时代校园基建的背景与挑战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flipH="false" flipV="false" rot="0">
            <a:off x="5421494" y="3015555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5421494" y="2653605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5840490" y="2586930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校园开放平台核心架构设计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5421494" y="429949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5421494" y="393754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5840490" y="387087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安全管控与密钥管理机制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5421494" y="5583436"/>
            <a:ext cx="6310222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5421494" y="5221486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04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5840490" y="5154811"/>
            <a:ext cx="5891228" cy="2381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6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智能体生态与未来演进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38283" y="2166640"/>
            <a:ext cx="655066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01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725974" y="2600028"/>
            <a:ext cx="8737003" cy="150852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AI时代校园基建的</a:t>
            </a:r>
            <a:endParaRPr lang="en-US" sz="1100"/>
          </a:p>
          <a:p>
            <a:pPr algn="ctr"/>
            <a:r>
              <a:rPr b="true" i="false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背景与挑战</a:t>
            </a:r>
            <a:endParaRPr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261622" y="4375249"/>
            <a:ext cx="7665709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从信息孤岛到智能协同的范式转换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CCCCCC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Background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5247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传统校园系统的痛点与AI时代的诉求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3144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99925" y="13525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传统校园系统长期存在数据孤岛与交互割裂问题，师生面临繁琐的跨系统操作。AI时代的到来要求校园基建从"被动响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应"转向"主动智能"，亟需构建统一的开放平台以支撑大模型与底层业务系统的无缝对接。</a:t>
            </a:r>
            <a:endParaRPr/>
          </a:p>
        </p:txBody>
      </p:sp>
      <p:pic>
        <p:nvPicPr>
          <p:cNvPr id="8" name="Picture 8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457086" y="2135386"/>
            <a:ext cx="4554936" cy="4029224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9" name="TextBox 9"/>
          <p:cNvSpPr txBox="true"/>
          <p:nvPr/>
        </p:nvSpPr>
        <p:spPr>
          <a:xfrm flipH="false" flipV="false" rot="0">
            <a:off x="457086" y="6250334"/>
            <a:ext cx="4554936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数字化校园生活场景 · 移动端校务交互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 flipH="false" flipV="false" rot="0">
            <a:off x="5354837" y="2135386"/>
            <a:ext cx="6376881" cy="206603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 flipH="false" flipV="false" rot="0">
            <a:off x="5354837" y="2135386"/>
            <a:ext cx="637688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 flipH="false" flipV="false" rot="0">
            <a:off x="5535841" y="2503735"/>
            <a:ext cx="171407" cy="171450"/>
          </a:xfrm>
          <a:custGeom>
            <a:rect b="b" l="l" r="r" t="t"/>
            <a:pathLst>
              <a:path h="10000" w="9998">
                <a:moveTo>
                  <a:pt x="4999" y="10000"/>
                </a:move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moveTo>
                  <a:pt x="4999" y="9000"/>
                </a:move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moveTo>
                  <a:pt x="4499" y="7500"/>
                </a:moveTo>
                <a:lnTo>
                  <a:pt x="4499" y="6500"/>
                </a:lnTo>
                <a:lnTo>
                  <a:pt x="5499" y="6500"/>
                </a:lnTo>
                <a:lnTo>
                  <a:pt x="5499" y="7500"/>
                </a:lnTo>
                <a:lnTo>
                  <a:pt x="4499" y="7500"/>
                </a:lnTo>
                <a:moveTo>
                  <a:pt x="4499" y="5500"/>
                </a:moveTo>
                <a:lnTo>
                  <a:pt x="4499" y="2500"/>
                </a:lnTo>
                <a:lnTo>
                  <a:pt x="5499" y="2500"/>
                </a:lnTo>
                <a:lnTo>
                  <a:pt x="5499" y="5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5764458" y="2484685"/>
            <a:ext cx="1172174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传统基建痛点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5554811" y="2837110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5787818" y="2846635"/>
            <a:ext cx="5743924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教务、学工、财务等系统各自为政，数据接口标准不一，导致跨部门业务流转存在严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重的信息壁垒与延迟。</a:t>
            </a:r>
            <a:endParaRPr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5554811" y="341605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5787818" y="3425577"/>
            <a:ext cx="5743924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师生办理业务需在多个图形界面间频繁切换，缺乏统一的自然语言交互入口，服务获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取成本极高。</a:t>
            </a:r>
            <a:endParaRPr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5354837" y="4334768"/>
            <a:ext cx="6376881" cy="2066032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5354837" y="4334768"/>
            <a:ext cx="637688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5535841" y="4703117"/>
            <a:ext cx="171407" cy="171450"/>
          </a:xfrm>
          <a:custGeom>
            <a:rect b="b" l="l" r="r" t="t"/>
            <a:pathLst>
              <a:path h="10000" w="9998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5764458" y="4684067"/>
            <a:ext cx="987823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AI时代诉求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5554811" y="5036492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5787818" y="5046017"/>
            <a:ext cx="5743924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大模型需要标准化的工具调用协议来理解并执行校园业务规则，要求底层系统暴露出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机器可读的API能力。</a:t>
            </a:r>
            <a:endParaRPr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5554811" y="5615435"/>
            <a:ext cx="16634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Inter"/>
                <a:ea typeface="Inter"/>
                <a:cs typeface="Inter"/>
              </a:rPr>
              <a:t>04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5787818" y="5624960"/>
            <a:ext cx="5743924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师生期望通过"一句话指令"实现随问随办，要求平台具备智能意图识别与跨系统服务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编排能力。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SMART CAMPUS · TREND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从"数字化"向"智能化"跃升的必然趋势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144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3525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智慧校园正经历从流程数字化向服务智能化的深刻跃升。通过引入大模型与知识图谱，校园基建不再仅仅是数据的存储与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展示，而是进化为具备理解、推理与执行能力的智能中枢，全面重塑数字教育治理模式。</a:t>
            </a:r>
            <a:endParaRPr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457086" y="2135386"/>
            <a:ext cx="6399200" cy="1351954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8" name="AutoShape 8"/>
          <p:cNvSpPr/>
          <p:nvPr/>
        </p:nvSpPr>
        <p:spPr>
          <a:xfrm flipH="false" flipV="false" rot="0">
            <a:off x="457086" y="2135386"/>
            <a:ext cx="6399200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647537" y="2452390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1047488" y="2471440"/>
            <a:ext cx="5618345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自然语言处理与知识图谱技术的成熟，使系统能精准理解复杂校务规则，实现从"人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找服务"到"服务找人"的转变。</a:t>
            </a:r>
            <a:endParaRPr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971307" y="3036987"/>
            <a:ext cx="569452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NLP + 知识图谱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457086" y="3601641"/>
            <a:ext cx="6399200" cy="1342429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AutoShape 13"/>
          <p:cNvSpPr/>
          <p:nvPr/>
        </p:nvSpPr>
        <p:spPr>
          <a:xfrm flipH="false" flipV="false" rot="0">
            <a:off x="457086" y="3601641"/>
            <a:ext cx="639920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4" name="TextBox 14"/>
          <p:cNvSpPr txBox="true"/>
          <p:nvPr/>
        </p:nvSpPr>
        <p:spPr>
          <a:xfrm flipH="false" flipV="false" rot="0">
            <a:off x="647537" y="3909120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1047488" y="3928170"/>
            <a:ext cx="5618345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专用大模型在校园垂直场景的部署，显著提升了公文生成、智能填表、工作量统计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等高频场景的办理效率与准确度。</a:t>
            </a:r>
            <a:endParaRPr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971307" y="4493716"/>
            <a:ext cx="569452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Domain LLM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457086" y="5058371"/>
            <a:ext cx="6399200" cy="1342429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457086" y="5058371"/>
            <a:ext cx="639920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47537" y="5365849"/>
            <a:ext cx="2666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03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1047488" y="5384899"/>
            <a:ext cx="5618345" cy="42088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教育部"人工智能+教育"行动计划明确提出建设教育智能算力服务平台，为高校基础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设施的智能化升级提供了政策指引。</a:t>
            </a:r>
            <a:endParaRPr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971307" y="5950447"/>
            <a:ext cx="5694526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100000"/>
                  </a:srgbClr>
                </a:solidFill>
                <a:latin typeface="Inter"/>
                <a:ea typeface="Inter"/>
                <a:cs typeface="Inter"/>
              </a:rPr>
              <a:t>AI + 教育</a:t>
            </a:r>
            <a:endParaRPr lang="en-US" sz="1100"/>
          </a:p>
        </p:txBody>
      </p:sp>
      <p:pic>
        <p:nvPicPr>
          <p:cNvPr id="22" name="Picture 2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7161009" y="2135386"/>
            <a:ext cx="4570857" cy="4017764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3" name="TextBox 23"/>
          <p:cNvSpPr txBox="true"/>
          <p:nvPr/>
        </p:nvSpPr>
        <p:spPr>
          <a:xfrm flipH="false" flipV="false" rot="0">
            <a:off x="7161009" y="6248400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高校图书馆数字化学习场景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true"/>
          <p:nvPr/>
        </p:nvSpPr>
        <p:spPr>
          <a:xfrm flipH="false" flipV="false" rot="0">
            <a:off x="5625934" y="2413248"/>
            <a:ext cx="656301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54901"/>
                  </a:srgbClr>
                </a:solidFill>
                <a:latin typeface="Inter"/>
                <a:ea typeface="Inter"/>
                <a:cs typeface="Inter"/>
              </a:rPr>
              <a:t>Chapter 02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064376" y="2822823"/>
            <a:ext cx="10060201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校园开放平台核心架构设计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 flipH="false" flipV="false" rot="0">
            <a:off x="5865933" y="3843785"/>
            <a:ext cx="457086" cy="9525"/>
          </a:xfrm>
          <a:prstGeom prst="rect">
            <a:avLst/>
          </a:prstGeom>
          <a:solidFill>
            <a:srgbClr val="5B8CB8">
              <a:alpha val="70196"/>
            </a:srgbClr>
          </a:solidFill>
          <a:ln>
            <a:headEnd type="none"/>
            <a:tailEnd type="none"/>
          </a:ln>
        </p:spPr>
      </p:sp>
      <p:sp>
        <p:nvSpPr>
          <p:cNvPr id="8" name="TextBox 8"/>
          <p:cNvSpPr txBox="true"/>
          <p:nvPr/>
        </p:nvSpPr>
        <p:spPr>
          <a:xfrm flipH="false" flipV="false" rot="0">
            <a:off x="2192434" y="4120010"/>
            <a:ext cx="7804084" cy="32474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构建一体化、层次化的智能中枢底座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D1D5DB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3619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Architecture Blueprint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6477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校园开放平台总体架构蓝图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2001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99925" y="12382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平台采用"入口-前台-中台-底座"四层架构，形成紧密耦合的智能化体系。中台作为智能中枢整合AI能力与MCP工具集，底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座提供算力与数据支撑，前台通过个性化工作台实现服务的精准触达与按需调度。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059186"/>
            <a:ext cx="3631242" cy="4494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059186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2082254" y="2297311"/>
            <a:ext cx="380905" cy="381000"/>
          </a:xfrm>
          <a:custGeom>
            <a:rect b="b" l="l" r="r" t="t"/>
            <a:pathLst>
              <a:path h="10000" w="9998">
                <a:moveTo>
                  <a:pt x="1111" y="9500"/>
                </a:moveTo>
                <a:lnTo>
                  <a:pt x="1111" y="6500"/>
                </a:lnTo>
                <a:lnTo>
                  <a:pt x="2222" y="6500"/>
                </a:lnTo>
                <a:lnTo>
                  <a:pt x="2222" y="9000"/>
                </a:lnTo>
                <a:lnTo>
                  <a:pt x="8887" y="9000"/>
                </a:lnTo>
                <a:lnTo>
                  <a:pt x="8887" y="1000"/>
                </a:lnTo>
                <a:lnTo>
                  <a:pt x="2222" y="1000"/>
                </a:lnTo>
                <a:lnTo>
                  <a:pt x="2222" y="3500"/>
                </a:lnTo>
                <a:lnTo>
                  <a:pt x="1111" y="3500"/>
                </a:lnTo>
                <a:lnTo>
                  <a:pt x="1111" y="500"/>
                </a:lnTo>
                <a:cubicBezTo>
                  <a:pt x="1111" y="360"/>
                  <a:pt x="1164" y="241"/>
                  <a:pt x="1272" y="145"/>
                </a:cubicBezTo>
                <a:cubicBezTo>
                  <a:pt x="1379" y="48"/>
                  <a:pt x="1510" y="0"/>
                  <a:pt x="1666" y="0"/>
                </a:cubicBezTo>
                <a:lnTo>
                  <a:pt x="9443" y="0"/>
                </a:lnTo>
                <a:cubicBezTo>
                  <a:pt x="9598" y="0"/>
                  <a:pt x="9729" y="48"/>
                  <a:pt x="9837" y="145"/>
                </a:cubicBezTo>
                <a:cubicBezTo>
                  <a:pt x="9944" y="241"/>
                  <a:pt x="9998" y="360"/>
                  <a:pt x="9998" y="500"/>
                </a:cubicBezTo>
                <a:lnTo>
                  <a:pt x="9998" y="9500"/>
                </a:lnTo>
                <a:cubicBezTo>
                  <a:pt x="9998" y="9640"/>
                  <a:pt x="9944" y="9758"/>
                  <a:pt x="9837" y="9855"/>
                </a:cubicBezTo>
                <a:cubicBezTo>
                  <a:pt x="9729" y="9951"/>
                  <a:pt x="9598" y="10000"/>
                  <a:pt x="9443" y="10000"/>
                </a:cubicBezTo>
                <a:lnTo>
                  <a:pt x="1666" y="10000"/>
                </a:lnTo>
                <a:cubicBezTo>
                  <a:pt x="1510" y="10000"/>
                  <a:pt x="1379" y="9951"/>
                  <a:pt x="1272" y="9855"/>
                </a:cubicBezTo>
                <a:cubicBezTo>
                  <a:pt x="1164" y="9758"/>
                  <a:pt x="1111" y="9640"/>
                  <a:pt x="1111" y="9500"/>
                </a:cubicBezTo>
                <a:moveTo>
                  <a:pt x="0" y="4500"/>
                </a:moveTo>
                <a:lnTo>
                  <a:pt x="4444" y="4500"/>
                </a:lnTo>
                <a:lnTo>
                  <a:pt x="4444" y="3000"/>
                </a:lnTo>
                <a:lnTo>
                  <a:pt x="7221" y="5000"/>
                </a:lnTo>
                <a:lnTo>
                  <a:pt x="4444" y="7000"/>
                </a:lnTo>
                <a:lnTo>
                  <a:pt x="4444" y="5500"/>
                </a:lnTo>
                <a:lnTo>
                  <a:pt x="0" y="55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638015" y="2821186"/>
            <a:ext cx="326938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智能入口与前台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638015" y="3221236"/>
            <a:ext cx="345031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统一入口支持PC与移动终端，提供基于策略的个性化应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用控制台，实现服务的精准触达。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38015" y="3723978"/>
            <a:ext cx="345031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前台通过智能接口灵活访问校内各业务系统，具备智能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侦测与服务聚合机制，有效避开故障节点。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38015" y="6000750"/>
            <a:ext cx="326938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638015" y="6172200"/>
            <a:ext cx="326938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统一入口 · 个性化控制台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4278780" y="2059186"/>
            <a:ext cx="3631242" cy="4494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AutoShape 17"/>
          <p:cNvSpPr/>
          <p:nvPr/>
        </p:nvSpPr>
        <p:spPr>
          <a:xfrm flipH="false" flipV="false" rot="0">
            <a:off x="4278780" y="2059186"/>
            <a:ext cx="3631242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5903949" y="2297311"/>
            <a:ext cx="380905" cy="381000"/>
          </a:xfrm>
          <a:custGeom>
            <a:rect b="b" l="l" r="r" t="t"/>
            <a:pathLst>
              <a:path h="10000" w="9998">
                <a:moveTo>
                  <a:pt x="2000" y="2000"/>
                </a:moveTo>
                <a:lnTo>
                  <a:pt x="2000" y="8000"/>
                </a:lnTo>
                <a:lnTo>
                  <a:pt x="7998" y="8000"/>
                </a:lnTo>
                <a:lnTo>
                  <a:pt x="7998" y="2000"/>
                </a:lnTo>
                <a:lnTo>
                  <a:pt x="2000" y="2000"/>
                </a:lnTo>
                <a:moveTo>
                  <a:pt x="5999" y="10000"/>
                </a:moveTo>
                <a:lnTo>
                  <a:pt x="5999" y="9000"/>
                </a:lnTo>
                <a:lnTo>
                  <a:pt x="3999" y="9000"/>
                </a:lnTo>
                <a:lnTo>
                  <a:pt x="3999" y="10000"/>
                </a:lnTo>
                <a:lnTo>
                  <a:pt x="2999" y="10000"/>
                </a:lnTo>
                <a:lnTo>
                  <a:pt x="2999" y="9000"/>
                </a:lnTo>
                <a:lnTo>
                  <a:pt x="1500" y="9000"/>
                </a:lnTo>
                <a:cubicBezTo>
                  <a:pt x="1360" y="9000"/>
                  <a:pt x="1241" y="8951"/>
                  <a:pt x="1145" y="8855"/>
                </a:cubicBezTo>
                <a:cubicBezTo>
                  <a:pt x="1048" y="8758"/>
                  <a:pt x="1000" y="8640"/>
                  <a:pt x="1000" y="8500"/>
                </a:cubicBezTo>
                <a:lnTo>
                  <a:pt x="1000" y="7000"/>
                </a:lnTo>
                <a:lnTo>
                  <a:pt x="0" y="7000"/>
                </a:lnTo>
                <a:lnTo>
                  <a:pt x="0" y="6000"/>
                </a:lnTo>
                <a:lnTo>
                  <a:pt x="1000" y="6000"/>
                </a:lnTo>
                <a:lnTo>
                  <a:pt x="1000" y="4000"/>
                </a:lnTo>
                <a:lnTo>
                  <a:pt x="0" y="4000"/>
                </a:lnTo>
                <a:lnTo>
                  <a:pt x="0" y="3000"/>
                </a:lnTo>
                <a:lnTo>
                  <a:pt x="1000" y="3000"/>
                </a:lnTo>
                <a:lnTo>
                  <a:pt x="1000" y="1500"/>
                </a:lnTo>
                <a:cubicBezTo>
                  <a:pt x="1000" y="1360"/>
                  <a:pt x="1048" y="1241"/>
                  <a:pt x="1145" y="1145"/>
                </a:cubicBezTo>
                <a:cubicBezTo>
                  <a:pt x="1241" y="1048"/>
                  <a:pt x="1360" y="1000"/>
                  <a:pt x="1500" y="1000"/>
                </a:cubicBezTo>
                <a:lnTo>
                  <a:pt x="2999" y="1000"/>
                </a:lnTo>
                <a:lnTo>
                  <a:pt x="2999" y="0"/>
                </a:lnTo>
                <a:lnTo>
                  <a:pt x="3999" y="0"/>
                </a:lnTo>
                <a:lnTo>
                  <a:pt x="3999" y="1000"/>
                </a:lnTo>
                <a:lnTo>
                  <a:pt x="5999" y="1000"/>
                </a:lnTo>
                <a:lnTo>
                  <a:pt x="5999" y="0"/>
                </a:lnTo>
                <a:lnTo>
                  <a:pt x="6999" y="0"/>
                </a:lnTo>
                <a:lnTo>
                  <a:pt x="6999" y="1000"/>
                </a:lnTo>
                <a:lnTo>
                  <a:pt x="8498" y="1000"/>
                </a:lnTo>
                <a:cubicBezTo>
                  <a:pt x="8638" y="1000"/>
                  <a:pt x="8756" y="1048"/>
                  <a:pt x="8853" y="1145"/>
                </a:cubicBezTo>
                <a:cubicBezTo>
                  <a:pt x="8949" y="1241"/>
                  <a:pt x="8998" y="1360"/>
                  <a:pt x="8998" y="1500"/>
                </a:cubicBezTo>
                <a:lnTo>
                  <a:pt x="8998" y="3000"/>
                </a:lnTo>
                <a:lnTo>
                  <a:pt x="9998" y="3000"/>
                </a:lnTo>
                <a:lnTo>
                  <a:pt x="9998" y="4000"/>
                </a:lnTo>
                <a:lnTo>
                  <a:pt x="8998" y="4000"/>
                </a:lnTo>
                <a:lnTo>
                  <a:pt x="8998" y="6000"/>
                </a:lnTo>
                <a:lnTo>
                  <a:pt x="9998" y="6000"/>
                </a:lnTo>
                <a:lnTo>
                  <a:pt x="9998" y="7000"/>
                </a:lnTo>
                <a:lnTo>
                  <a:pt x="8998" y="7000"/>
                </a:lnTo>
                <a:lnTo>
                  <a:pt x="8998" y="8500"/>
                </a:lnTo>
                <a:cubicBezTo>
                  <a:pt x="8998" y="8640"/>
                  <a:pt x="8949" y="8758"/>
                  <a:pt x="8853" y="8855"/>
                </a:cubicBezTo>
                <a:cubicBezTo>
                  <a:pt x="8756" y="8951"/>
                  <a:pt x="8638" y="9000"/>
                  <a:pt x="8498" y="9000"/>
                </a:cubicBezTo>
                <a:lnTo>
                  <a:pt x="6999" y="9000"/>
                </a:lnTo>
                <a:lnTo>
                  <a:pt x="6999" y="10000"/>
                </a:lnTo>
                <a:lnTo>
                  <a:pt x="5999" y="10000"/>
                </a:lnTo>
                <a:moveTo>
                  <a:pt x="2999" y="7000"/>
                </a:moveTo>
                <a:lnTo>
                  <a:pt x="2999" y="3000"/>
                </a:lnTo>
                <a:lnTo>
                  <a:pt x="6999" y="3000"/>
                </a:lnTo>
                <a:lnTo>
                  <a:pt x="6999" y="7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4459710" y="2821186"/>
            <a:ext cx="3269383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AI中台与MCP网关</a:t>
            </a:r>
            <a:endParaRPr lang="en-US" sz="1100"/>
          </a:p>
        </p:txBody>
      </p:sp>
      <p:sp>
        <p:nvSpPr>
          <p:cNvPr id="20" name="TextBox 20"/>
          <p:cNvSpPr txBox="true"/>
          <p:nvPr/>
        </p:nvSpPr>
        <p:spPr>
          <a:xfrm flipH="false" flipV="false" rot="0">
            <a:off x="4459710" y="3221236"/>
            <a:ext cx="345031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中台部署大模型应用网关，实现多种AI工具的协同与按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需调用，封装复杂业务逻辑。</a:t>
            </a:r>
            <a:endParaRPr/>
          </a:p>
        </p:txBody>
      </p:sp>
      <p:sp>
        <p:nvSpPr>
          <p:cNvPr id="21" name="TextBox 21"/>
          <p:cNvSpPr txBox="true"/>
          <p:nvPr/>
        </p:nvSpPr>
        <p:spPr>
          <a:xfrm flipH="false" flipV="false" rot="0">
            <a:off x="4459710" y="3723978"/>
            <a:ext cx="3450313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引入MCP标准协议，将校园系统能力转化为大模型可理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解的工具集，打通智能体与底层系统的交互链路。</a:t>
            </a:r>
            <a:endParaRPr/>
          </a:p>
        </p:txBody>
      </p:sp>
      <p:sp>
        <p:nvSpPr>
          <p:cNvPr id="22" name="AutoShape 22"/>
          <p:cNvSpPr/>
          <p:nvPr/>
        </p:nvSpPr>
        <p:spPr>
          <a:xfrm flipH="false" flipV="false" rot="0">
            <a:off x="4459710" y="6000750"/>
            <a:ext cx="3269383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4459710" y="6172200"/>
            <a:ext cx="3269383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大模型网关 · MCP协议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8100475" y="2059186"/>
            <a:ext cx="3631391" cy="449401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8100475" y="2059186"/>
            <a:ext cx="3631391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 flipH="false" flipV="false" rot="0">
            <a:off x="9725718" y="2297311"/>
            <a:ext cx="380905" cy="381000"/>
          </a:xfrm>
          <a:custGeom>
            <a:rect b="b" l="l" r="r" t="t"/>
            <a:pathLst>
              <a:path h="10000" w="9998">
                <a:moveTo>
                  <a:pt x="1111" y="1111"/>
                </a:moveTo>
                <a:lnTo>
                  <a:pt x="1111" y="4444"/>
                </a:lnTo>
                <a:lnTo>
                  <a:pt x="8887" y="4444"/>
                </a:lnTo>
                <a:lnTo>
                  <a:pt x="8887" y="1111"/>
                </a:lnTo>
                <a:lnTo>
                  <a:pt x="1111" y="1111"/>
                </a:lnTo>
                <a:moveTo>
                  <a:pt x="9998" y="556"/>
                </a:moveTo>
                <a:lnTo>
                  <a:pt x="9998" y="9444"/>
                </a:lnTo>
                <a:cubicBezTo>
                  <a:pt x="9998" y="9600"/>
                  <a:pt x="9944" y="9731"/>
                  <a:pt x="9837" y="9839"/>
                </a:cubicBezTo>
                <a:cubicBezTo>
                  <a:pt x="9729" y="9946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46"/>
                  <a:pt x="161" y="9839"/>
                </a:cubicBezTo>
                <a:cubicBezTo>
                  <a:pt x="53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53" y="268"/>
                  <a:pt x="161" y="161"/>
                </a:cubicBezTo>
                <a:cubicBezTo>
                  <a:pt x="268" y="53"/>
                  <a:pt x="399" y="0"/>
                  <a:pt x="555" y="0"/>
                </a:cubicBezTo>
                <a:lnTo>
                  <a:pt x="9443" y="0"/>
                </a:lnTo>
                <a:cubicBezTo>
                  <a:pt x="9598" y="0"/>
                  <a:pt x="9729" y="53"/>
                  <a:pt x="9837" y="161"/>
                </a:cubicBezTo>
                <a:cubicBezTo>
                  <a:pt x="9944" y="268"/>
                  <a:pt x="9998" y="400"/>
                  <a:pt x="9998" y="556"/>
                </a:cubicBezTo>
                <a:moveTo>
                  <a:pt x="8887" y="8889"/>
                </a:moveTo>
                <a:lnTo>
                  <a:pt x="8887" y="5556"/>
                </a:lnTo>
                <a:lnTo>
                  <a:pt x="1111" y="5556"/>
                </a:lnTo>
                <a:lnTo>
                  <a:pt x="1111" y="8889"/>
                </a:lnTo>
                <a:lnTo>
                  <a:pt x="8887" y="8889"/>
                </a:lnTo>
                <a:moveTo>
                  <a:pt x="2222" y="7778"/>
                </a:moveTo>
                <a:lnTo>
                  <a:pt x="2222" y="6667"/>
                </a:lnTo>
                <a:lnTo>
                  <a:pt x="3888" y="6667"/>
                </a:lnTo>
                <a:lnTo>
                  <a:pt x="3888" y="7778"/>
                </a:lnTo>
                <a:lnTo>
                  <a:pt x="2222" y="7778"/>
                </a:lnTo>
                <a:moveTo>
                  <a:pt x="2222" y="3333"/>
                </a:moveTo>
                <a:lnTo>
                  <a:pt x="2222" y="2222"/>
                </a:lnTo>
                <a:lnTo>
                  <a:pt x="3888" y="2222"/>
                </a:lnTo>
                <a:lnTo>
                  <a:pt x="3888" y="3333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8281405" y="2821186"/>
            <a:ext cx="3269531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算力底座与数据湖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8281405" y="3221236"/>
            <a:ext cx="3450462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底座提供智算能力、高速网络及分布式存储，支撑一网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通办大模型的本地化推理与微调。</a:t>
            </a:r>
            <a:endParaRPr/>
          </a:p>
        </p:txBody>
      </p:sp>
      <p:sp>
        <p:nvSpPr>
          <p:cNvPr id="29" name="TextBox 29"/>
          <p:cNvSpPr txBox="true"/>
          <p:nvPr/>
        </p:nvSpPr>
        <p:spPr>
          <a:xfrm flipH="false" flipV="false" rot="0">
            <a:off x="8281405" y="3723978"/>
            <a:ext cx="3450462" cy="36567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整合校园全量业务数据，构建高质量语料库与业务知识</a:t>
            </a:r>
            <a:endParaRPr lang="en-US" sz="1100"/>
          </a:p>
          <a:p>
            <a:pPr algn="l"/>
            <a:r>
              <a:rPr b="false" i="false" strike="noStrike" sz="10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图谱，为智能体提供持续进化的知识养分。</a:t>
            </a:r>
            <a:endParaRPr/>
          </a:p>
        </p:txBody>
      </p:sp>
      <p:sp>
        <p:nvSpPr>
          <p:cNvPr id="30" name="AutoShape 30"/>
          <p:cNvSpPr/>
          <p:nvPr/>
        </p:nvSpPr>
        <p:spPr>
          <a:xfrm flipH="false" flipV="false" rot="0">
            <a:off x="8281405" y="6000750"/>
            <a:ext cx="3269531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31" name="TextBox 31"/>
          <p:cNvSpPr txBox="true"/>
          <p:nvPr/>
        </p:nvSpPr>
        <p:spPr>
          <a:xfrm flipH="false" flipV="false" rot="0">
            <a:off x="8281405" y="6172200"/>
            <a:ext cx="3269531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智算能力 · 知识图谱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Protocol Architecture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429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MCP协议赋能：打破系统孤岛的关键技术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99925" y="140970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MCP（Model Context Protocol）作为连接大模型与校园底层系统的标准桥梁，彻底改变了传统API对接的碎片化困境。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它将校园网、图书馆等基础系统的能力封装为标准化上下文工具，使智能体能够安全、高效地读取数据并执行操作。</a:t>
            </a:r>
            <a:endParaRPr/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457086" y="2664023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true"/>
          <p:nvPr/>
        </p:nvSpPr>
        <p:spPr>
          <a:xfrm flipH="false" flipV="false" rot="0">
            <a:off x="457086" y="5797748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高校数据中心机房 · 校园IT基础设施底座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5332666" y="2211586"/>
            <a:ext cx="6399200" cy="1332904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5332666" y="2211586"/>
            <a:ext cx="6399200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1" name="AutoShape 11"/>
          <p:cNvSpPr/>
          <p:nvPr/>
        </p:nvSpPr>
        <p:spPr>
          <a:xfrm flipH="false" flipV="false" rot="0">
            <a:off x="5482946" y="2696171"/>
            <a:ext cx="190452" cy="190500"/>
          </a:xfrm>
          <a:custGeom>
            <a:rect b="b" l="l" r="r" t="t"/>
            <a:pathLst>
              <a:path h="10000" w="9998">
                <a:moveTo>
                  <a:pt x="4812" y="3708"/>
                </a:moveTo>
                <a:lnTo>
                  <a:pt x="5551" y="2979"/>
                </a:lnTo>
                <a:lnTo>
                  <a:pt x="6290" y="3708"/>
                </a:lnTo>
                <a:cubicBezTo>
                  <a:pt x="6755" y="4173"/>
                  <a:pt x="7071" y="4725"/>
                  <a:pt x="7238" y="5365"/>
                </a:cubicBezTo>
                <a:cubicBezTo>
                  <a:pt x="7398" y="5983"/>
                  <a:pt x="7398" y="6601"/>
                  <a:pt x="7238" y="7219"/>
                </a:cubicBezTo>
                <a:cubicBezTo>
                  <a:pt x="7071" y="7851"/>
                  <a:pt x="6755" y="8399"/>
                  <a:pt x="6290" y="8865"/>
                </a:cubicBezTo>
                <a:lnTo>
                  <a:pt x="6103" y="9052"/>
                </a:lnTo>
                <a:cubicBezTo>
                  <a:pt x="5637" y="9517"/>
                  <a:pt x="5085" y="9833"/>
                  <a:pt x="4447" y="10000"/>
                </a:cubicBezTo>
                <a:cubicBezTo>
                  <a:pt x="3836" y="10160"/>
                  <a:pt x="3222" y="10160"/>
                  <a:pt x="2604" y="10000"/>
                </a:cubicBezTo>
                <a:cubicBezTo>
                  <a:pt x="1965" y="9833"/>
                  <a:pt x="1413" y="9517"/>
                  <a:pt x="948" y="9052"/>
                </a:cubicBezTo>
                <a:cubicBezTo>
                  <a:pt x="482" y="8586"/>
                  <a:pt x="166" y="8034"/>
                  <a:pt x="0" y="7396"/>
                </a:cubicBezTo>
                <a:cubicBezTo>
                  <a:pt x="-160" y="6778"/>
                  <a:pt x="-160" y="6163"/>
                  <a:pt x="0" y="5552"/>
                </a:cubicBezTo>
                <a:cubicBezTo>
                  <a:pt x="166" y="4913"/>
                  <a:pt x="482" y="4361"/>
                  <a:pt x="948" y="3896"/>
                </a:cubicBezTo>
                <a:lnTo>
                  <a:pt x="1687" y="4635"/>
                </a:lnTo>
                <a:cubicBezTo>
                  <a:pt x="1353" y="4968"/>
                  <a:pt x="1128" y="5357"/>
                  <a:pt x="1010" y="5802"/>
                </a:cubicBezTo>
                <a:cubicBezTo>
                  <a:pt x="892" y="6246"/>
                  <a:pt x="892" y="6693"/>
                  <a:pt x="1010" y="7141"/>
                </a:cubicBezTo>
                <a:cubicBezTo>
                  <a:pt x="1128" y="7589"/>
                  <a:pt x="1353" y="7979"/>
                  <a:pt x="1687" y="8313"/>
                </a:cubicBezTo>
                <a:cubicBezTo>
                  <a:pt x="2020" y="8646"/>
                  <a:pt x="2411" y="8872"/>
                  <a:pt x="2859" y="8990"/>
                </a:cubicBezTo>
                <a:cubicBezTo>
                  <a:pt x="3307" y="9108"/>
                  <a:pt x="3753" y="9108"/>
                  <a:pt x="4197" y="8990"/>
                </a:cubicBezTo>
                <a:cubicBezTo>
                  <a:pt x="4641" y="8872"/>
                  <a:pt x="5030" y="8646"/>
                  <a:pt x="5364" y="8313"/>
                </a:cubicBezTo>
                <a:lnTo>
                  <a:pt x="5551" y="8135"/>
                </a:lnTo>
                <a:cubicBezTo>
                  <a:pt x="5884" y="7795"/>
                  <a:pt x="6110" y="7402"/>
                  <a:pt x="6228" y="6958"/>
                </a:cubicBezTo>
                <a:cubicBezTo>
                  <a:pt x="6346" y="6514"/>
                  <a:pt x="6346" y="6068"/>
                  <a:pt x="6228" y="5620"/>
                </a:cubicBezTo>
                <a:cubicBezTo>
                  <a:pt x="6110" y="5172"/>
                  <a:pt x="5884" y="4781"/>
                  <a:pt x="5551" y="4448"/>
                </a:cubicBezTo>
                <a:lnTo>
                  <a:pt x="4812" y="3708"/>
                </a:lnTo>
                <a:moveTo>
                  <a:pt x="9050" y="6104"/>
                </a:moveTo>
                <a:lnTo>
                  <a:pt x="8311" y="5365"/>
                </a:lnTo>
                <a:cubicBezTo>
                  <a:pt x="8644" y="5031"/>
                  <a:pt x="8870" y="4642"/>
                  <a:pt x="8988" y="4198"/>
                </a:cubicBezTo>
                <a:cubicBezTo>
                  <a:pt x="9106" y="3753"/>
                  <a:pt x="9106" y="3307"/>
                  <a:pt x="8988" y="2859"/>
                </a:cubicBezTo>
                <a:cubicBezTo>
                  <a:pt x="8870" y="2411"/>
                  <a:pt x="8644" y="2021"/>
                  <a:pt x="8311" y="1688"/>
                </a:cubicBezTo>
                <a:cubicBezTo>
                  <a:pt x="7977" y="1354"/>
                  <a:pt x="7587" y="1128"/>
                  <a:pt x="7139" y="1010"/>
                </a:cubicBezTo>
                <a:cubicBezTo>
                  <a:pt x="6691" y="892"/>
                  <a:pt x="6245" y="892"/>
                  <a:pt x="5801" y="1010"/>
                </a:cubicBezTo>
                <a:cubicBezTo>
                  <a:pt x="5356" y="1128"/>
                  <a:pt x="4967" y="1354"/>
                  <a:pt x="4634" y="1688"/>
                </a:cubicBezTo>
                <a:lnTo>
                  <a:pt x="4447" y="1865"/>
                </a:lnTo>
                <a:cubicBezTo>
                  <a:pt x="4113" y="2205"/>
                  <a:pt x="3888" y="2597"/>
                  <a:pt x="3770" y="3042"/>
                </a:cubicBezTo>
                <a:cubicBezTo>
                  <a:pt x="3652" y="3486"/>
                  <a:pt x="3652" y="3932"/>
                  <a:pt x="3770" y="4380"/>
                </a:cubicBezTo>
                <a:cubicBezTo>
                  <a:pt x="3888" y="4828"/>
                  <a:pt x="4113" y="5218"/>
                  <a:pt x="4447" y="5552"/>
                </a:cubicBezTo>
                <a:lnTo>
                  <a:pt x="5186" y="6292"/>
                </a:lnTo>
                <a:lnTo>
                  <a:pt x="4447" y="7021"/>
                </a:lnTo>
                <a:lnTo>
                  <a:pt x="3708" y="6292"/>
                </a:lnTo>
                <a:cubicBezTo>
                  <a:pt x="3242" y="5826"/>
                  <a:pt x="2926" y="5274"/>
                  <a:pt x="2760" y="4635"/>
                </a:cubicBezTo>
                <a:cubicBezTo>
                  <a:pt x="2600" y="4017"/>
                  <a:pt x="2600" y="3399"/>
                  <a:pt x="2760" y="2781"/>
                </a:cubicBezTo>
                <a:cubicBezTo>
                  <a:pt x="2926" y="2149"/>
                  <a:pt x="3242" y="1600"/>
                  <a:pt x="3708" y="1135"/>
                </a:cubicBezTo>
                <a:lnTo>
                  <a:pt x="3895" y="948"/>
                </a:lnTo>
                <a:cubicBezTo>
                  <a:pt x="4360" y="482"/>
                  <a:pt x="4912" y="166"/>
                  <a:pt x="5551" y="0"/>
                </a:cubicBezTo>
                <a:cubicBezTo>
                  <a:pt x="6161" y="-160"/>
                  <a:pt x="6776" y="-160"/>
                  <a:pt x="7394" y="0"/>
                </a:cubicBezTo>
                <a:cubicBezTo>
                  <a:pt x="8032" y="166"/>
                  <a:pt x="8584" y="482"/>
                  <a:pt x="9050" y="948"/>
                </a:cubicBezTo>
                <a:cubicBezTo>
                  <a:pt x="9515" y="1413"/>
                  <a:pt x="9831" y="1965"/>
                  <a:pt x="9998" y="2604"/>
                </a:cubicBezTo>
                <a:cubicBezTo>
                  <a:pt x="10158" y="3222"/>
                  <a:pt x="10158" y="3836"/>
                  <a:pt x="9998" y="4448"/>
                </a:cubicBezTo>
                <a:cubicBezTo>
                  <a:pt x="9831" y="5086"/>
                  <a:pt x="9515" y="5638"/>
                  <a:pt x="9050" y="6104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2" name="TextBox 12"/>
          <p:cNvSpPr txBox="true"/>
          <p:nvPr/>
        </p:nvSpPr>
        <p:spPr>
          <a:xfrm flipH="false" flipV="false" rot="0">
            <a:off x="5785587" y="2686646"/>
            <a:ext cx="594628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标准化接口规范：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MCP协议定义了统一的工具描述与调用规范，使大模型无需针对每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个校园系统编写定制代码，即可通过标准接口理解并调用系统能力。</a:t>
            </a:r>
            <a:endParaRPr/>
          </a:p>
        </p:txBody>
      </p:sp>
      <p:sp>
        <p:nvSpPr>
          <p:cNvPr id="13" name="AutoShape 13"/>
          <p:cNvSpPr/>
          <p:nvPr/>
        </p:nvSpPr>
        <p:spPr>
          <a:xfrm flipH="false" flipV="false" rot="0">
            <a:off x="5332666" y="3658791"/>
            <a:ext cx="6399200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4" name="AutoShape 14"/>
          <p:cNvSpPr/>
          <p:nvPr/>
        </p:nvSpPr>
        <p:spPr>
          <a:xfrm flipH="false" flipV="false" rot="0">
            <a:off x="5332666" y="3658791"/>
            <a:ext cx="639920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5482946" y="4124325"/>
            <a:ext cx="190452" cy="190500"/>
          </a:xfrm>
          <a:custGeom>
            <a:rect b="b" l="l" r="r" t="t"/>
            <a:pathLst>
              <a:path h="10000" w="9998">
                <a:moveTo>
                  <a:pt x="2604" y="1372"/>
                </a:moveTo>
                <a:lnTo>
                  <a:pt x="1302" y="70"/>
                </a:lnTo>
                <a:cubicBezTo>
                  <a:pt x="1666" y="-62"/>
                  <a:pt x="2040" y="-85"/>
                  <a:pt x="2424" y="0"/>
                </a:cubicBezTo>
                <a:cubicBezTo>
                  <a:pt x="2807" y="85"/>
                  <a:pt x="3142" y="267"/>
                  <a:pt x="3430" y="547"/>
                </a:cubicBezTo>
                <a:cubicBezTo>
                  <a:pt x="3747" y="872"/>
                  <a:pt x="3937" y="1257"/>
                  <a:pt x="3999" y="1703"/>
                </a:cubicBezTo>
                <a:cubicBezTo>
                  <a:pt x="4061" y="2149"/>
                  <a:pt x="3987" y="2565"/>
                  <a:pt x="3778" y="2953"/>
                </a:cubicBezTo>
                <a:lnTo>
                  <a:pt x="9998" y="9186"/>
                </a:lnTo>
                <a:lnTo>
                  <a:pt x="9184" y="10000"/>
                </a:lnTo>
                <a:lnTo>
                  <a:pt x="2953" y="3779"/>
                </a:lnTo>
                <a:cubicBezTo>
                  <a:pt x="2565" y="3988"/>
                  <a:pt x="2149" y="4062"/>
                  <a:pt x="1703" y="4000"/>
                </a:cubicBezTo>
                <a:cubicBezTo>
                  <a:pt x="1257" y="3938"/>
                  <a:pt x="872" y="3748"/>
                  <a:pt x="546" y="3430"/>
                </a:cubicBezTo>
                <a:cubicBezTo>
                  <a:pt x="267" y="3143"/>
                  <a:pt x="85" y="2808"/>
                  <a:pt x="0" y="2424"/>
                </a:cubicBezTo>
                <a:cubicBezTo>
                  <a:pt x="-85" y="2040"/>
                  <a:pt x="-62" y="1666"/>
                  <a:pt x="70" y="1302"/>
                </a:cubicBezTo>
                <a:lnTo>
                  <a:pt x="1372" y="2605"/>
                </a:lnTo>
                <a:cubicBezTo>
                  <a:pt x="1542" y="2775"/>
                  <a:pt x="1748" y="2860"/>
                  <a:pt x="1988" y="2860"/>
                </a:cubicBezTo>
                <a:cubicBezTo>
                  <a:pt x="2228" y="2860"/>
                  <a:pt x="2433" y="2775"/>
                  <a:pt x="2604" y="2605"/>
                </a:cubicBezTo>
                <a:cubicBezTo>
                  <a:pt x="2774" y="2434"/>
                  <a:pt x="2860" y="2228"/>
                  <a:pt x="2860" y="1988"/>
                </a:cubicBezTo>
                <a:cubicBezTo>
                  <a:pt x="2860" y="1748"/>
                  <a:pt x="2774" y="1542"/>
                  <a:pt x="2604" y="1372"/>
                </a:cubicBezTo>
                <a:moveTo>
                  <a:pt x="7126" y="2186"/>
                </a:moveTo>
                <a:lnTo>
                  <a:pt x="7324" y="1163"/>
                </a:lnTo>
                <a:lnTo>
                  <a:pt x="9184" y="140"/>
                </a:lnTo>
                <a:lnTo>
                  <a:pt x="9998" y="953"/>
                </a:lnTo>
                <a:lnTo>
                  <a:pt x="8975" y="2802"/>
                </a:lnTo>
                <a:lnTo>
                  <a:pt x="7940" y="3012"/>
                </a:lnTo>
                <a:lnTo>
                  <a:pt x="6708" y="4244"/>
                </a:lnTo>
                <a:lnTo>
                  <a:pt x="5894" y="3430"/>
                </a:lnTo>
                <a:lnTo>
                  <a:pt x="7126" y="2186"/>
                </a:lnTo>
                <a:moveTo>
                  <a:pt x="337" y="8977"/>
                </a:moveTo>
                <a:lnTo>
                  <a:pt x="3430" y="5895"/>
                </a:lnTo>
                <a:lnTo>
                  <a:pt x="4243" y="6709"/>
                </a:lnTo>
                <a:lnTo>
                  <a:pt x="1163" y="9802"/>
                </a:lnTo>
                <a:cubicBezTo>
                  <a:pt x="1046" y="9910"/>
                  <a:pt x="908" y="9965"/>
                  <a:pt x="750" y="9965"/>
                </a:cubicBezTo>
                <a:cubicBezTo>
                  <a:pt x="591" y="9965"/>
                  <a:pt x="457" y="9910"/>
                  <a:pt x="349" y="9802"/>
                </a:cubicBezTo>
                <a:cubicBezTo>
                  <a:pt x="240" y="9694"/>
                  <a:pt x="182" y="9566"/>
                  <a:pt x="174" y="9419"/>
                </a:cubicBezTo>
                <a:cubicBezTo>
                  <a:pt x="166" y="9271"/>
                  <a:pt x="205" y="9139"/>
                  <a:pt x="291" y="9023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5785587" y="4114800"/>
            <a:ext cx="594628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动态交互操作：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通过MCP工具集，智能体不仅能获取静态数据，还能执行如"查询校园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卡余额"、"预约图书馆座位"等动态交互操作，实现真正的"随问随办"。</a:t>
            </a:r>
            <a:endParaRPr/>
          </a:p>
        </p:txBody>
      </p:sp>
      <p:sp>
        <p:nvSpPr>
          <p:cNvPr id="17" name="AutoShape 17"/>
          <p:cNvSpPr/>
          <p:nvPr/>
        </p:nvSpPr>
        <p:spPr>
          <a:xfrm flipH="false" flipV="false" rot="0">
            <a:off x="5332666" y="5086946"/>
            <a:ext cx="6399200" cy="1313854"/>
          </a:xfrm>
          <a:prstGeom prst="rect">
            <a:avLst/>
          </a:prstGeom>
          <a:solidFill>
            <a:srgbClr val="E8EBEF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8" name="AutoShape 18"/>
          <p:cNvSpPr/>
          <p:nvPr/>
        </p:nvSpPr>
        <p:spPr>
          <a:xfrm flipH="false" flipV="false" rot="0">
            <a:off x="5332666" y="5086946"/>
            <a:ext cx="6399200" cy="9525"/>
          </a:xfrm>
          <a:prstGeom prst="line">
            <a:avLst/>
          </a:prstGeom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5482946" y="5552479"/>
            <a:ext cx="190452" cy="190500"/>
          </a:xfrm>
          <a:custGeom>
            <a:rect b="b" l="l" r="r" t="t"/>
            <a:pathLst>
              <a:path h="10000" w="9998">
                <a:moveTo>
                  <a:pt x="500" y="0"/>
                </a:moveTo>
                <a:lnTo>
                  <a:pt x="9498" y="0"/>
                </a:lnTo>
                <a:cubicBezTo>
                  <a:pt x="9638" y="0"/>
                  <a:pt x="9756" y="53"/>
                  <a:pt x="9853" y="161"/>
                </a:cubicBezTo>
                <a:cubicBezTo>
                  <a:pt x="9949" y="268"/>
                  <a:pt x="9998" y="400"/>
                  <a:pt x="9998" y="556"/>
                </a:cubicBezTo>
                <a:lnTo>
                  <a:pt x="9998" y="9444"/>
                </a:lnTo>
                <a:cubicBezTo>
                  <a:pt x="9998" y="9600"/>
                  <a:pt x="9949" y="9731"/>
                  <a:pt x="9853" y="9839"/>
                </a:cubicBezTo>
                <a:cubicBezTo>
                  <a:pt x="9756" y="9946"/>
                  <a:pt x="9638" y="10000"/>
                  <a:pt x="9498" y="10000"/>
                </a:cubicBezTo>
                <a:lnTo>
                  <a:pt x="500" y="10000"/>
                </a:lnTo>
                <a:cubicBezTo>
                  <a:pt x="360" y="10000"/>
                  <a:pt x="241" y="9946"/>
                  <a:pt x="145" y="9839"/>
                </a:cubicBezTo>
                <a:cubicBezTo>
                  <a:pt x="48" y="9731"/>
                  <a:pt x="0" y="9600"/>
                  <a:pt x="0" y="9444"/>
                </a:cubicBezTo>
                <a:lnTo>
                  <a:pt x="0" y="556"/>
                </a:lnTo>
                <a:cubicBezTo>
                  <a:pt x="0" y="400"/>
                  <a:pt x="48" y="268"/>
                  <a:pt x="145" y="161"/>
                </a:cubicBezTo>
                <a:cubicBezTo>
                  <a:pt x="241" y="53"/>
                  <a:pt x="360" y="0"/>
                  <a:pt x="500" y="0"/>
                </a:cubicBezTo>
                <a:moveTo>
                  <a:pt x="8998" y="1111"/>
                </a:moveTo>
                <a:lnTo>
                  <a:pt x="1000" y="1111"/>
                </a:lnTo>
                <a:lnTo>
                  <a:pt x="1000" y="8889"/>
                </a:lnTo>
                <a:lnTo>
                  <a:pt x="8998" y="8889"/>
                </a:lnTo>
                <a:lnTo>
                  <a:pt x="8998" y="1111"/>
                </a:lnTo>
                <a:moveTo>
                  <a:pt x="4999" y="7778"/>
                </a:moveTo>
                <a:lnTo>
                  <a:pt x="4999" y="6667"/>
                </a:lnTo>
                <a:lnTo>
                  <a:pt x="7998" y="6667"/>
                </a:lnTo>
                <a:lnTo>
                  <a:pt x="7998" y="7778"/>
                </a:lnTo>
                <a:lnTo>
                  <a:pt x="4999" y="7778"/>
                </a:lnTo>
                <a:moveTo>
                  <a:pt x="1920" y="6567"/>
                </a:moveTo>
                <a:lnTo>
                  <a:pt x="3329" y="5000"/>
                </a:lnTo>
                <a:lnTo>
                  <a:pt x="1920" y="3433"/>
                </a:lnTo>
                <a:lnTo>
                  <a:pt x="2629" y="2644"/>
                </a:lnTo>
                <a:lnTo>
                  <a:pt x="4749" y="5000"/>
                </a:lnTo>
                <a:lnTo>
                  <a:pt x="2629" y="7356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0" name="TextBox 20"/>
          <p:cNvSpPr txBox="true"/>
          <p:nvPr/>
        </p:nvSpPr>
        <p:spPr>
          <a:xfrm flipH="false" flipV="false" rot="0">
            <a:off x="5785587" y="5542954"/>
            <a:ext cx="5946280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命令行直连模式：</a:t>
            </a:r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命令行工具与MCP协议的结合，为大模型提供了最直接、安全的系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统交互方式，有效规避了传统图形界面自动化带来的高延迟与高错误率问题。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Infrastructure Integration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8105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基础系统接入：校园网与图书馆的MCP工具集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716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4097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针对校园网与图书馆等高频基础服务，平台通过MCP协议构建了细粒度的工具集。这不仅让智能体能够精准响应师生的网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络报障与文献检索需求，更将原本孤立的后台管理系统转化为可被AI随时调度的智能服务节点。</a:t>
            </a:r>
            <a:endParaRPr/>
          </a:p>
        </p:txBody>
      </p:sp>
      <p:pic>
        <p:nvPicPr>
          <p:cNvPr id="7" name="Picture 7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457086" y="2211586"/>
            <a:ext cx="5504073" cy="30968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8" name="TextBox 8"/>
          <p:cNvSpPr txBox="true"/>
          <p:nvPr/>
        </p:nvSpPr>
        <p:spPr>
          <a:xfrm flipH="false" flipV="false" rot="0">
            <a:off x="457086" y="5394127"/>
            <a:ext cx="550407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校园网运维现场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 flipH="false" flipV="false" rot="0">
            <a:off x="435958" y="5687466"/>
            <a:ext cx="190452" cy="190500"/>
          </a:xfrm>
          <a:custGeom>
            <a:rect b="b" l="l" r="r" t="t"/>
            <a:pathLst>
              <a:path h="10000" w="9998">
                <a:moveTo>
                  <a:pt x="1835" y="6000"/>
                </a:moveTo>
                <a:lnTo>
                  <a:pt x="4472" y="6000"/>
                </a:lnTo>
                <a:lnTo>
                  <a:pt x="4472" y="4500"/>
                </a:lnTo>
                <a:lnTo>
                  <a:pt x="5526" y="4500"/>
                </a:lnTo>
                <a:lnTo>
                  <a:pt x="5526" y="6000"/>
                </a:lnTo>
                <a:lnTo>
                  <a:pt x="8163" y="6000"/>
                </a:lnTo>
                <a:cubicBezTo>
                  <a:pt x="8310" y="6000"/>
                  <a:pt x="8435" y="6048"/>
                  <a:pt x="8537" y="6145"/>
                </a:cubicBezTo>
                <a:cubicBezTo>
                  <a:pt x="8639" y="6241"/>
                  <a:pt x="8690" y="6360"/>
                  <a:pt x="8690" y="6500"/>
                </a:cubicBezTo>
                <a:lnTo>
                  <a:pt x="8690" y="9500"/>
                </a:lnTo>
                <a:cubicBezTo>
                  <a:pt x="8690" y="9640"/>
                  <a:pt x="8639" y="9758"/>
                  <a:pt x="8537" y="9855"/>
                </a:cubicBezTo>
                <a:cubicBezTo>
                  <a:pt x="8435" y="9951"/>
                  <a:pt x="8310" y="10000"/>
                  <a:pt x="8163" y="10000"/>
                </a:cubicBezTo>
                <a:lnTo>
                  <a:pt x="1835" y="10000"/>
                </a:lnTo>
                <a:cubicBezTo>
                  <a:pt x="1687" y="10000"/>
                  <a:pt x="1563" y="9951"/>
                  <a:pt x="1461" y="9855"/>
                </a:cubicBezTo>
                <a:cubicBezTo>
                  <a:pt x="1359" y="9758"/>
                  <a:pt x="1308" y="9640"/>
                  <a:pt x="1308" y="9500"/>
                </a:cubicBezTo>
                <a:lnTo>
                  <a:pt x="1308" y="6500"/>
                </a:lnTo>
                <a:cubicBezTo>
                  <a:pt x="1308" y="6360"/>
                  <a:pt x="1359" y="6241"/>
                  <a:pt x="1461" y="6145"/>
                </a:cubicBezTo>
                <a:cubicBezTo>
                  <a:pt x="1563" y="6048"/>
                  <a:pt x="1687" y="6000"/>
                  <a:pt x="1835" y="6000"/>
                </a:cubicBezTo>
                <a:moveTo>
                  <a:pt x="991" y="3730"/>
                </a:moveTo>
                <a:lnTo>
                  <a:pt x="0" y="3420"/>
                </a:lnTo>
                <a:cubicBezTo>
                  <a:pt x="232" y="2760"/>
                  <a:pt x="594" y="2170"/>
                  <a:pt x="1086" y="1650"/>
                </a:cubicBezTo>
                <a:cubicBezTo>
                  <a:pt x="1578" y="1130"/>
                  <a:pt x="2158" y="726"/>
                  <a:pt x="2826" y="440"/>
                </a:cubicBezTo>
                <a:cubicBezTo>
                  <a:pt x="3515" y="146"/>
                  <a:pt x="4239" y="0"/>
                  <a:pt x="4999" y="0"/>
                </a:cubicBezTo>
                <a:cubicBezTo>
                  <a:pt x="5758" y="0"/>
                  <a:pt x="6482" y="146"/>
                  <a:pt x="7172" y="440"/>
                </a:cubicBezTo>
                <a:cubicBezTo>
                  <a:pt x="7839" y="726"/>
                  <a:pt x="8419" y="1130"/>
                  <a:pt x="8912" y="1650"/>
                </a:cubicBezTo>
                <a:cubicBezTo>
                  <a:pt x="9404" y="2170"/>
                  <a:pt x="9766" y="2760"/>
                  <a:pt x="9998" y="3420"/>
                </a:cubicBezTo>
                <a:lnTo>
                  <a:pt x="9007" y="3730"/>
                </a:lnTo>
                <a:cubicBezTo>
                  <a:pt x="8817" y="3203"/>
                  <a:pt x="8525" y="2733"/>
                  <a:pt x="8131" y="2320"/>
                </a:cubicBezTo>
                <a:cubicBezTo>
                  <a:pt x="7737" y="1906"/>
                  <a:pt x="7273" y="1586"/>
                  <a:pt x="6739" y="1360"/>
                </a:cubicBezTo>
                <a:cubicBezTo>
                  <a:pt x="6191" y="1120"/>
                  <a:pt x="5611" y="1000"/>
                  <a:pt x="4999" y="1000"/>
                </a:cubicBezTo>
                <a:cubicBezTo>
                  <a:pt x="4387" y="1000"/>
                  <a:pt x="3807" y="1120"/>
                  <a:pt x="3259" y="1360"/>
                </a:cubicBezTo>
                <a:cubicBezTo>
                  <a:pt x="2724" y="1586"/>
                  <a:pt x="2260" y="1906"/>
                  <a:pt x="1867" y="2320"/>
                </a:cubicBezTo>
                <a:cubicBezTo>
                  <a:pt x="1473" y="2733"/>
                  <a:pt x="1181" y="3203"/>
                  <a:pt x="991" y="3730"/>
                </a:cubicBezTo>
                <a:moveTo>
                  <a:pt x="2995" y="4370"/>
                </a:moveTo>
                <a:lnTo>
                  <a:pt x="1993" y="4050"/>
                </a:lnTo>
                <a:cubicBezTo>
                  <a:pt x="2133" y="3656"/>
                  <a:pt x="2351" y="3303"/>
                  <a:pt x="2647" y="2990"/>
                </a:cubicBezTo>
                <a:cubicBezTo>
                  <a:pt x="2942" y="2676"/>
                  <a:pt x="3294" y="2433"/>
                  <a:pt x="3702" y="2260"/>
                </a:cubicBezTo>
                <a:cubicBezTo>
                  <a:pt x="4109" y="2086"/>
                  <a:pt x="4541" y="2000"/>
                  <a:pt x="4999" y="2000"/>
                </a:cubicBezTo>
                <a:cubicBezTo>
                  <a:pt x="5456" y="2000"/>
                  <a:pt x="5888" y="2086"/>
                  <a:pt x="6296" y="2260"/>
                </a:cubicBezTo>
                <a:cubicBezTo>
                  <a:pt x="6704" y="2433"/>
                  <a:pt x="7055" y="2676"/>
                  <a:pt x="7351" y="2990"/>
                </a:cubicBezTo>
                <a:cubicBezTo>
                  <a:pt x="7646" y="3303"/>
                  <a:pt x="7864" y="3656"/>
                  <a:pt x="8005" y="4050"/>
                </a:cubicBezTo>
                <a:lnTo>
                  <a:pt x="7003" y="4370"/>
                </a:lnTo>
                <a:cubicBezTo>
                  <a:pt x="6862" y="3963"/>
                  <a:pt x="6607" y="3633"/>
                  <a:pt x="6238" y="3380"/>
                </a:cubicBezTo>
                <a:cubicBezTo>
                  <a:pt x="5869" y="3126"/>
                  <a:pt x="5456" y="3000"/>
                  <a:pt x="4999" y="3000"/>
                </a:cubicBezTo>
                <a:cubicBezTo>
                  <a:pt x="4541" y="3000"/>
                  <a:pt x="4128" y="3126"/>
                  <a:pt x="3760" y="3380"/>
                </a:cubicBezTo>
                <a:cubicBezTo>
                  <a:pt x="3390" y="3633"/>
                  <a:pt x="3135" y="3963"/>
                  <a:pt x="2995" y="4370"/>
                </a:cubicBezTo>
                <a:moveTo>
                  <a:pt x="7636" y="7000"/>
                </a:moveTo>
                <a:lnTo>
                  <a:pt x="2362" y="7000"/>
                </a:lnTo>
                <a:lnTo>
                  <a:pt x="2362" y="9000"/>
                </a:lnTo>
                <a:lnTo>
                  <a:pt x="7636" y="9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0" name="TextBox 10"/>
          <p:cNvSpPr txBox="true"/>
          <p:nvPr/>
        </p:nvSpPr>
        <p:spPr>
          <a:xfrm flipH="false" flipV="false" rot="0">
            <a:off x="681463" y="5639841"/>
            <a:ext cx="527969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校园网运维MCP工具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 flipH="false" flipV="false" rot="0">
            <a:off x="457086" y="6009382"/>
            <a:ext cx="5504073" cy="257175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AutoShape 12"/>
          <p:cNvSpPr/>
          <p:nvPr/>
        </p:nvSpPr>
        <p:spPr>
          <a:xfrm flipH="false" flipV="false" rot="0">
            <a:off x="457086" y="6009382"/>
            <a:ext cx="5504073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618970" y="5949851"/>
            <a:ext cx="534218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提供网络状态诊断、IP地址查询、带宽限速解除等工具，支持智能体自动排查师生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网络故障。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457086" y="6342757"/>
            <a:ext cx="5504073" cy="247650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Box 15"/>
          <p:cNvSpPr txBox="true"/>
          <p:nvPr/>
        </p:nvSpPr>
        <p:spPr>
          <a:xfrm flipH="false" flipV="false" rot="0">
            <a:off x="618970" y="6273701"/>
            <a:ext cx="534218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对接计费与认证系统，实现"一句话充值"与"无感认证"，大幅降低IT服务台的工单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压力。</a:t>
            </a:r>
            <a:endParaRPr/>
          </a:p>
        </p:txBody>
      </p:sp>
      <p:pic>
        <p:nvPicPr>
          <p:cNvPr id="16" name="Picture 16"/>
          <p:cNvPicPr>
            <a:picLocks noChangeAspect="true"/>
          </p:cNvPicPr>
          <p:nvPr/>
        </p:nvPicPr>
        <p:blipFill>
          <a:blip r:embed="rId3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6227793" y="2211586"/>
            <a:ext cx="5504073" cy="3096816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7" name="TextBox 17"/>
          <p:cNvSpPr txBox="true"/>
          <p:nvPr/>
        </p:nvSpPr>
        <p:spPr>
          <a:xfrm flipH="false" flipV="false" rot="0">
            <a:off x="6227793" y="5394127"/>
            <a:ext cx="550407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智慧图书馆服务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206664" y="5687466"/>
            <a:ext cx="190452" cy="190500"/>
          </a:xfrm>
          <a:custGeom>
            <a:rect b="b" l="l" r="r" t="t"/>
            <a:pathLst>
              <a:path h="10000" w="9998">
                <a:moveTo>
                  <a:pt x="9498" y="9000"/>
                </a:moveTo>
                <a:lnTo>
                  <a:pt x="5499" y="9000"/>
                </a:lnTo>
                <a:lnTo>
                  <a:pt x="5499" y="10000"/>
                </a:lnTo>
                <a:lnTo>
                  <a:pt x="4499" y="10000"/>
                </a:lnTo>
                <a:lnTo>
                  <a:pt x="4499" y="9000"/>
                </a:lnTo>
                <a:lnTo>
                  <a:pt x="500" y="9000"/>
                </a:lnTo>
                <a:cubicBezTo>
                  <a:pt x="360" y="9000"/>
                  <a:pt x="241" y="8951"/>
                  <a:pt x="145" y="8855"/>
                </a:cubicBezTo>
                <a:cubicBezTo>
                  <a:pt x="48" y="8758"/>
                  <a:pt x="0" y="8640"/>
                  <a:pt x="0" y="8500"/>
                </a:cubicBezTo>
                <a:lnTo>
                  <a:pt x="0" y="500"/>
                </a:lnTo>
                <a:cubicBezTo>
                  <a:pt x="0" y="360"/>
                  <a:pt x="48" y="241"/>
                  <a:pt x="145" y="145"/>
                </a:cubicBezTo>
                <a:cubicBezTo>
                  <a:pt x="241" y="48"/>
                  <a:pt x="360" y="0"/>
                  <a:pt x="500" y="0"/>
                </a:cubicBezTo>
                <a:lnTo>
                  <a:pt x="3499" y="0"/>
                </a:lnTo>
                <a:cubicBezTo>
                  <a:pt x="3792" y="0"/>
                  <a:pt x="4069" y="60"/>
                  <a:pt x="4329" y="180"/>
                </a:cubicBezTo>
                <a:cubicBezTo>
                  <a:pt x="4589" y="300"/>
                  <a:pt x="4812" y="466"/>
                  <a:pt x="4999" y="680"/>
                </a:cubicBezTo>
                <a:cubicBezTo>
                  <a:pt x="5185" y="466"/>
                  <a:pt x="5409" y="300"/>
                  <a:pt x="5669" y="180"/>
                </a:cubicBezTo>
                <a:cubicBezTo>
                  <a:pt x="5929" y="60"/>
                  <a:pt x="6205" y="0"/>
                  <a:pt x="6499" y="0"/>
                </a:cubicBezTo>
                <a:lnTo>
                  <a:pt x="9498" y="0"/>
                </a:lnTo>
                <a:cubicBezTo>
                  <a:pt x="9638" y="0"/>
                  <a:pt x="9756" y="48"/>
                  <a:pt x="9853" y="145"/>
                </a:cubicBezTo>
                <a:cubicBezTo>
                  <a:pt x="9949" y="241"/>
                  <a:pt x="9998" y="360"/>
                  <a:pt x="9998" y="500"/>
                </a:cubicBezTo>
                <a:lnTo>
                  <a:pt x="9998" y="8500"/>
                </a:lnTo>
                <a:cubicBezTo>
                  <a:pt x="9998" y="8640"/>
                  <a:pt x="9949" y="8758"/>
                  <a:pt x="9853" y="8855"/>
                </a:cubicBezTo>
                <a:cubicBezTo>
                  <a:pt x="9756" y="8951"/>
                  <a:pt x="9638" y="9000"/>
                  <a:pt x="9498" y="9000"/>
                </a:cubicBezTo>
                <a:moveTo>
                  <a:pt x="5499" y="8000"/>
                </a:moveTo>
                <a:lnTo>
                  <a:pt x="8998" y="8000"/>
                </a:lnTo>
                <a:lnTo>
                  <a:pt x="8998" y="1000"/>
                </a:lnTo>
                <a:lnTo>
                  <a:pt x="6499" y="1000"/>
                </a:lnTo>
                <a:cubicBezTo>
                  <a:pt x="6319" y="1000"/>
                  <a:pt x="6152" y="1045"/>
                  <a:pt x="5999" y="1135"/>
                </a:cubicBezTo>
                <a:cubicBezTo>
                  <a:pt x="5845" y="1225"/>
                  <a:pt x="5724" y="1346"/>
                  <a:pt x="5634" y="1500"/>
                </a:cubicBezTo>
                <a:cubicBezTo>
                  <a:pt x="5544" y="1653"/>
                  <a:pt x="5499" y="1820"/>
                  <a:pt x="5499" y="2000"/>
                </a:cubicBezTo>
                <a:lnTo>
                  <a:pt x="5499" y="8000"/>
                </a:lnTo>
                <a:moveTo>
                  <a:pt x="1000" y="8000"/>
                </a:moveTo>
                <a:lnTo>
                  <a:pt x="4499" y="8000"/>
                </a:lnTo>
                <a:lnTo>
                  <a:pt x="4499" y="2000"/>
                </a:lnTo>
                <a:cubicBezTo>
                  <a:pt x="4499" y="1820"/>
                  <a:pt x="4454" y="1653"/>
                  <a:pt x="4364" y="1500"/>
                </a:cubicBezTo>
                <a:cubicBezTo>
                  <a:pt x="4274" y="1346"/>
                  <a:pt x="4152" y="1225"/>
                  <a:pt x="3999" y="1135"/>
                </a:cubicBezTo>
                <a:cubicBezTo>
                  <a:pt x="3845" y="1045"/>
                  <a:pt x="3679" y="1000"/>
                  <a:pt x="3499" y="1000"/>
                </a:cubicBezTo>
                <a:lnTo>
                  <a:pt x="1000" y="1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9" name="TextBox 19"/>
          <p:cNvSpPr txBox="true"/>
          <p:nvPr/>
        </p:nvSpPr>
        <p:spPr>
          <a:xfrm flipH="false" flipV="false" rot="0">
            <a:off x="6452169" y="5639841"/>
            <a:ext cx="5279697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图书馆服务MCP工具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6227793" y="6009382"/>
            <a:ext cx="5504073" cy="257175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6227793" y="6009382"/>
            <a:ext cx="5504073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TextBox 22"/>
          <p:cNvSpPr txBox="true"/>
          <p:nvPr/>
        </p:nvSpPr>
        <p:spPr>
          <a:xfrm flipH="false" flipV="false" rot="0">
            <a:off x="6389677" y="5949851"/>
            <a:ext cx="534218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封装馆藏检索、电子书下载、借阅期限查询等能力，支持智能体根据学生专业背景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进行个性化文献推荐。</a:t>
            </a:r>
            <a:endParaRPr/>
          </a:p>
        </p:txBody>
      </p:sp>
      <p:sp>
        <p:nvSpPr>
          <p:cNvPr id="23" name="AutoShape 23"/>
          <p:cNvSpPr/>
          <p:nvPr/>
        </p:nvSpPr>
        <p:spPr>
          <a:xfrm flipH="false" flipV="false" rot="0">
            <a:off x="6227793" y="6342757"/>
            <a:ext cx="5504073" cy="247650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Box 24"/>
          <p:cNvSpPr txBox="true"/>
          <p:nvPr/>
        </p:nvSpPr>
        <p:spPr>
          <a:xfrm flipH="false" flipV="false" rot="0">
            <a:off x="6389677" y="6273701"/>
            <a:ext cx="5342189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整合空间预约与座位管理系统，通过自然语言指令即可完成自习室资源的智能分配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与冲突协调。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457086" y="457200"/>
            <a:ext cx="11274781" cy="5943600"/>
          </a:xfrm>
          <a:prstGeom prst="rect">
            <a:avLst/>
          </a:prstGeom>
          <a:solidFill>
            <a:srgbClr val="0A0A0B">
              <a:alpha val="2196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5638283" y="2570410"/>
            <a:ext cx="6093583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F1F3F5">
                    <a:alpha val="65098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03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1458150" y="3003798"/>
            <a:ext cx="9272650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安全管控与密钥管理机制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2525875" y="3986660"/>
            <a:ext cx="7137203" cy="31998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500">
                <a:ln/>
                <a:solidFill>
                  <a:srgbClr val="F1F3F5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构筑零信任环境下的校园数据防线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2A2A2A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Inter"/>
                <a:ea typeface="Inter"/>
                <a:cs typeface="Inter"/>
              </a:rPr>
              <a:t>SECURITY ARCHITECTURE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04850"/>
            <a:ext cx="11274781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27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零信任架构下的访问控制与鉴权体系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194346"/>
            <a:ext cx="9522" cy="590550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80880" y="1232446"/>
            <a:ext cx="11608072" cy="5048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5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校园开放平台在赋予AI强大执行能力的同时，必须建立严格的零信任安全边界。通过多维度的身份认证与细粒度的权限控制，确保智</a:t>
            </a:r>
            <a:endParaRPr lang="en-US" sz="1100"/>
          </a:p>
          <a:p>
            <a:pPr algn="l"/>
            <a:r>
              <a:rPr b="false" i="true" strike="noStrike" sz="15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能体在调用校园核心系统时，始终遵循"最小特权"原则，防范数据泄露与越权操作风险。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1899196"/>
            <a:ext cx="6399200" cy="1430684"/>
          </a:xfrm>
          <a:prstGeom prst="rect">
            <a:avLst/>
          </a:prstGeom>
          <a:solidFill>
            <a:srgbClr val="E4E8E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1899196"/>
            <a:ext cx="6399200" cy="9525"/>
          </a:xfrm>
          <a:prstGeom prst="line">
            <a:avLst/>
          </a:prstGeom>
          <a:ln w="19050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643372" y="2142084"/>
            <a:ext cx="209498" cy="209550"/>
          </a:xfrm>
          <a:custGeom>
            <a:rect b="b" l="l" r="r" t="t"/>
            <a:pathLst>
              <a:path h="10000" w="9998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4999" y="927"/>
                </a:move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lnTo>
                  <a:pt x="4999" y="927"/>
                </a:lnTo>
                <a:moveTo>
                  <a:pt x="4999" y="4545"/>
                </a:moveTo>
                <a:cubicBezTo>
                  <a:pt x="4747" y="4545"/>
                  <a:pt x="4515" y="4493"/>
                  <a:pt x="4305" y="4391"/>
                </a:cubicBezTo>
                <a:cubicBezTo>
                  <a:pt x="4093" y="4287"/>
                  <a:pt x="3925" y="4149"/>
                  <a:pt x="3799" y="3977"/>
                </a:cubicBezTo>
                <a:cubicBezTo>
                  <a:pt x="3673" y="3804"/>
                  <a:pt x="3610" y="3615"/>
                  <a:pt x="3610" y="3409"/>
                </a:cubicBezTo>
                <a:cubicBezTo>
                  <a:pt x="3610" y="3203"/>
                  <a:pt x="3673" y="3013"/>
                  <a:pt x="3799" y="2841"/>
                </a:cubicBezTo>
                <a:cubicBezTo>
                  <a:pt x="3925" y="2668"/>
                  <a:pt x="4093" y="2530"/>
                  <a:pt x="4305" y="2427"/>
                </a:cubicBezTo>
                <a:cubicBezTo>
                  <a:pt x="4515" y="2324"/>
                  <a:pt x="4747" y="2273"/>
                  <a:pt x="4999" y="2273"/>
                </a:cubicBezTo>
                <a:cubicBezTo>
                  <a:pt x="5251" y="2273"/>
                  <a:pt x="5482" y="2324"/>
                  <a:pt x="5693" y="2427"/>
                </a:cubicBezTo>
                <a:cubicBezTo>
                  <a:pt x="5904" y="2530"/>
                  <a:pt x="6073" y="2668"/>
                  <a:pt x="6199" y="2841"/>
                </a:cubicBezTo>
                <a:cubicBezTo>
                  <a:pt x="6325" y="3013"/>
                  <a:pt x="6388" y="3203"/>
                  <a:pt x="6388" y="3409"/>
                </a:cubicBezTo>
                <a:cubicBezTo>
                  <a:pt x="6388" y="3615"/>
                  <a:pt x="6325" y="3804"/>
                  <a:pt x="6199" y="3977"/>
                </a:cubicBezTo>
                <a:cubicBezTo>
                  <a:pt x="6073" y="4149"/>
                  <a:pt x="5904" y="4287"/>
                  <a:pt x="5693" y="4391"/>
                </a:cubicBezTo>
                <a:cubicBezTo>
                  <a:pt x="5482" y="4493"/>
                  <a:pt x="5251" y="4545"/>
                  <a:pt x="4999" y="4545"/>
                </a:cubicBezTo>
                <a:moveTo>
                  <a:pt x="7487" y="6818"/>
                </a:moveTo>
                <a:lnTo>
                  <a:pt x="2511" y="6818"/>
                </a:lnTo>
                <a:cubicBezTo>
                  <a:pt x="2562" y="6478"/>
                  <a:pt x="2703" y="6171"/>
                  <a:pt x="2933" y="5895"/>
                </a:cubicBezTo>
                <a:cubicBezTo>
                  <a:pt x="3162" y="5619"/>
                  <a:pt x="3458" y="5401"/>
                  <a:pt x="3821" y="5241"/>
                </a:cubicBezTo>
                <a:cubicBezTo>
                  <a:pt x="4184" y="5080"/>
                  <a:pt x="4577" y="5000"/>
                  <a:pt x="4999" y="5000"/>
                </a:cubicBezTo>
                <a:cubicBezTo>
                  <a:pt x="5421" y="5000"/>
                  <a:pt x="5813" y="5080"/>
                  <a:pt x="6177" y="5241"/>
                </a:cubicBezTo>
                <a:cubicBezTo>
                  <a:pt x="6539" y="5401"/>
                  <a:pt x="6835" y="5619"/>
                  <a:pt x="7065" y="5895"/>
                </a:cubicBezTo>
                <a:cubicBezTo>
                  <a:pt x="7295" y="6171"/>
                  <a:pt x="7435" y="6478"/>
                  <a:pt x="7487" y="6818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924884" y="2144911"/>
            <a:ext cx="14188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双重访问控制机制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5831413" y="2173040"/>
            <a:ext cx="843942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85098"/>
                  </a:srgbClr>
                </a:solidFill>
                <a:latin typeface="Inter"/>
                <a:ea typeface="Inter"/>
                <a:cs typeface="Inter"/>
              </a:rPr>
              <a:t>RBAC + ABAC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666584" y="2537371"/>
            <a:ext cx="6189702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引入基于角色与基于属性的双重访问控制，根据师生身份、院系及场景动态计算智能体操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作权限。系统实时评估用户身份属性与资源敏感级别，实现权限的精细化动态分配。</a:t>
            </a:r>
            <a:endParaRPr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457086" y="3444180"/>
            <a:ext cx="6399200" cy="1421159"/>
          </a:xfrm>
          <a:prstGeom prst="rect">
            <a:avLst/>
          </a:prstGeom>
          <a:solidFill>
            <a:srgbClr val="E4E8E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457086" y="3444180"/>
            <a:ext cx="6399200" cy="9525"/>
          </a:xfrm>
          <a:prstGeom prst="line">
            <a:avLst/>
          </a:prstGeom>
          <a:ln w="9525">
            <a:solidFill>
              <a:srgbClr val="C0C8D2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6" name="AutoShape 16"/>
          <p:cNvSpPr/>
          <p:nvPr/>
        </p:nvSpPr>
        <p:spPr>
          <a:xfrm flipH="false" flipV="false" rot="0">
            <a:off x="643372" y="3677543"/>
            <a:ext cx="209498" cy="209550"/>
          </a:xfrm>
          <a:custGeom>
            <a:rect b="b" l="l" r="r" t="t"/>
            <a:pathLst>
              <a:path h="10000" w="9998">
                <a:moveTo>
                  <a:pt x="4219" y="5920"/>
                </a:moveTo>
                <a:lnTo>
                  <a:pt x="4219" y="6831"/>
                </a:lnTo>
                <a:cubicBezTo>
                  <a:pt x="3649" y="6831"/>
                  <a:pt x="3118" y="6955"/>
                  <a:pt x="2626" y="7204"/>
                </a:cubicBezTo>
                <a:cubicBezTo>
                  <a:pt x="2148" y="7446"/>
                  <a:pt x="1768" y="7774"/>
                  <a:pt x="1487" y="8188"/>
                </a:cubicBezTo>
                <a:cubicBezTo>
                  <a:pt x="1199" y="8612"/>
                  <a:pt x="1055" y="9071"/>
                  <a:pt x="1055" y="9563"/>
                </a:cubicBezTo>
                <a:lnTo>
                  <a:pt x="0" y="9563"/>
                </a:lnTo>
                <a:cubicBezTo>
                  <a:pt x="0" y="8907"/>
                  <a:pt x="193" y="8293"/>
                  <a:pt x="580" y="7723"/>
                </a:cubicBezTo>
                <a:cubicBezTo>
                  <a:pt x="952" y="7176"/>
                  <a:pt x="1455" y="6742"/>
                  <a:pt x="2088" y="6421"/>
                </a:cubicBezTo>
                <a:cubicBezTo>
                  <a:pt x="2749" y="6087"/>
                  <a:pt x="3459" y="5920"/>
                  <a:pt x="4219" y="5920"/>
                </a:cubicBezTo>
                <a:moveTo>
                  <a:pt x="4219" y="5464"/>
                </a:moveTo>
                <a:cubicBezTo>
                  <a:pt x="3649" y="5464"/>
                  <a:pt x="3118" y="5339"/>
                  <a:pt x="2626" y="5091"/>
                </a:cubicBezTo>
                <a:cubicBezTo>
                  <a:pt x="2148" y="4854"/>
                  <a:pt x="1768" y="4529"/>
                  <a:pt x="1487" y="4117"/>
                </a:cubicBezTo>
                <a:cubicBezTo>
                  <a:pt x="1199" y="3691"/>
                  <a:pt x="1055" y="3231"/>
                  <a:pt x="1055" y="2737"/>
                </a:cubicBezTo>
                <a:cubicBezTo>
                  <a:pt x="1055" y="2242"/>
                  <a:pt x="1199" y="1782"/>
                  <a:pt x="1487" y="1357"/>
                </a:cubicBezTo>
                <a:cubicBezTo>
                  <a:pt x="1768" y="944"/>
                  <a:pt x="2148" y="616"/>
                  <a:pt x="2626" y="373"/>
                </a:cubicBezTo>
                <a:cubicBezTo>
                  <a:pt x="3118" y="124"/>
                  <a:pt x="3650" y="0"/>
                  <a:pt x="4224" y="0"/>
                </a:cubicBezTo>
                <a:cubicBezTo>
                  <a:pt x="4796" y="0"/>
                  <a:pt x="5329" y="124"/>
                  <a:pt x="5822" y="373"/>
                </a:cubicBezTo>
                <a:cubicBezTo>
                  <a:pt x="6300" y="616"/>
                  <a:pt x="6676" y="944"/>
                  <a:pt x="6950" y="1357"/>
                </a:cubicBezTo>
                <a:cubicBezTo>
                  <a:pt x="7238" y="1782"/>
                  <a:pt x="7382" y="2242"/>
                  <a:pt x="7382" y="2737"/>
                </a:cubicBezTo>
                <a:cubicBezTo>
                  <a:pt x="7382" y="3231"/>
                  <a:pt x="7238" y="3691"/>
                  <a:pt x="6950" y="4117"/>
                </a:cubicBezTo>
                <a:cubicBezTo>
                  <a:pt x="6676" y="4529"/>
                  <a:pt x="6300" y="4854"/>
                  <a:pt x="5822" y="5091"/>
                </a:cubicBezTo>
                <a:cubicBezTo>
                  <a:pt x="5329" y="5339"/>
                  <a:pt x="4795" y="5464"/>
                  <a:pt x="4219" y="5464"/>
                </a:cubicBezTo>
                <a:moveTo>
                  <a:pt x="4219" y="4554"/>
                </a:moveTo>
                <a:cubicBezTo>
                  <a:pt x="4605" y="4554"/>
                  <a:pt x="4958" y="4472"/>
                  <a:pt x="5278" y="4308"/>
                </a:cubicBezTo>
                <a:cubicBezTo>
                  <a:pt x="5598" y="4144"/>
                  <a:pt x="5853" y="3924"/>
                  <a:pt x="6043" y="3648"/>
                </a:cubicBezTo>
                <a:cubicBezTo>
                  <a:pt x="6233" y="3371"/>
                  <a:pt x="6328" y="3067"/>
                  <a:pt x="6328" y="2737"/>
                </a:cubicBezTo>
                <a:cubicBezTo>
                  <a:pt x="6328" y="2405"/>
                  <a:pt x="6233" y="2100"/>
                  <a:pt x="6043" y="1821"/>
                </a:cubicBezTo>
                <a:cubicBezTo>
                  <a:pt x="5853" y="1542"/>
                  <a:pt x="5598" y="1321"/>
                  <a:pt x="5278" y="1157"/>
                </a:cubicBezTo>
                <a:cubicBezTo>
                  <a:pt x="4958" y="993"/>
                  <a:pt x="4607" y="911"/>
                  <a:pt x="4224" y="911"/>
                </a:cubicBezTo>
                <a:cubicBezTo>
                  <a:pt x="3840" y="911"/>
                  <a:pt x="3487" y="993"/>
                  <a:pt x="3164" y="1157"/>
                </a:cubicBezTo>
                <a:cubicBezTo>
                  <a:pt x="2840" y="1321"/>
                  <a:pt x="2584" y="1542"/>
                  <a:pt x="2394" y="1821"/>
                </a:cubicBezTo>
                <a:cubicBezTo>
                  <a:pt x="2204" y="2100"/>
                  <a:pt x="2109" y="2405"/>
                  <a:pt x="2109" y="2737"/>
                </a:cubicBezTo>
                <a:cubicBezTo>
                  <a:pt x="2109" y="3067"/>
                  <a:pt x="2204" y="3371"/>
                  <a:pt x="2394" y="3648"/>
                </a:cubicBezTo>
                <a:cubicBezTo>
                  <a:pt x="2584" y="3924"/>
                  <a:pt x="2840" y="4144"/>
                  <a:pt x="3164" y="4308"/>
                </a:cubicBezTo>
                <a:cubicBezTo>
                  <a:pt x="3487" y="4472"/>
                  <a:pt x="3839" y="4554"/>
                  <a:pt x="4219" y="4554"/>
                </a:cubicBezTo>
                <a:moveTo>
                  <a:pt x="9207" y="8670"/>
                </a:moveTo>
                <a:lnTo>
                  <a:pt x="9998" y="9353"/>
                </a:lnTo>
                <a:lnTo>
                  <a:pt x="9249" y="10000"/>
                </a:lnTo>
                <a:lnTo>
                  <a:pt x="8458" y="9317"/>
                </a:lnTo>
                <a:cubicBezTo>
                  <a:pt x="8128" y="9481"/>
                  <a:pt x="7771" y="9563"/>
                  <a:pt x="7388" y="9563"/>
                </a:cubicBezTo>
                <a:cubicBezTo>
                  <a:pt x="7004" y="9563"/>
                  <a:pt x="6651" y="9481"/>
                  <a:pt x="6328" y="9317"/>
                </a:cubicBezTo>
                <a:cubicBezTo>
                  <a:pt x="6004" y="9153"/>
                  <a:pt x="5748" y="8933"/>
                  <a:pt x="5558" y="8657"/>
                </a:cubicBezTo>
                <a:cubicBezTo>
                  <a:pt x="5368" y="8380"/>
                  <a:pt x="5273" y="8076"/>
                  <a:pt x="5273" y="7746"/>
                </a:cubicBezTo>
                <a:cubicBezTo>
                  <a:pt x="5273" y="7415"/>
                  <a:pt x="5368" y="7110"/>
                  <a:pt x="5558" y="6831"/>
                </a:cubicBezTo>
                <a:cubicBezTo>
                  <a:pt x="5748" y="6551"/>
                  <a:pt x="6004" y="6330"/>
                  <a:pt x="6328" y="6166"/>
                </a:cubicBezTo>
                <a:cubicBezTo>
                  <a:pt x="6651" y="6002"/>
                  <a:pt x="7004" y="5920"/>
                  <a:pt x="7388" y="5920"/>
                </a:cubicBezTo>
                <a:cubicBezTo>
                  <a:pt x="7771" y="5920"/>
                  <a:pt x="8122" y="6002"/>
                  <a:pt x="8442" y="6166"/>
                </a:cubicBezTo>
                <a:cubicBezTo>
                  <a:pt x="8762" y="6330"/>
                  <a:pt x="9017" y="6551"/>
                  <a:pt x="9207" y="6831"/>
                </a:cubicBezTo>
                <a:cubicBezTo>
                  <a:pt x="9397" y="7110"/>
                  <a:pt x="9492" y="7415"/>
                  <a:pt x="9492" y="7746"/>
                </a:cubicBezTo>
                <a:cubicBezTo>
                  <a:pt x="9492" y="8076"/>
                  <a:pt x="9397" y="8384"/>
                  <a:pt x="9207" y="8670"/>
                </a:cubicBezTo>
                <a:moveTo>
                  <a:pt x="7382" y="8652"/>
                </a:moveTo>
                <a:cubicBezTo>
                  <a:pt x="7572" y="8652"/>
                  <a:pt x="7748" y="8611"/>
                  <a:pt x="7910" y="8529"/>
                </a:cubicBezTo>
                <a:cubicBezTo>
                  <a:pt x="8071" y="8447"/>
                  <a:pt x="8199" y="8336"/>
                  <a:pt x="8295" y="8197"/>
                </a:cubicBezTo>
                <a:cubicBezTo>
                  <a:pt x="8389" y="8057"/>
                  <a:pt x="8437" y="7905"/>
                  <a:pt x="8437" y="7741"/>
                </a:cubicBezTo>
                <a:cubicBezTo>
                  <a:pt x="8437" y="7577"/>
                  <a:pt x="8389" y="7425"/>
                  <a:pt x="8295" y="7286"/>
                </a:cubicBezTo>
                <a:cubicBezTo>
                  <a:pt x="8199" y="7146"/>
                  <a:pt x="8071" y="7036"/>
                  <a:pt x="7910" y="6954"/>
                </a:cubicBezTo>
                <a:cubicBezTo>
                  <a:pt x="7748" y="6872"/>
                  <a:pt x="7572" y="6831"/>
                  <a:pt x="7382" y="6831"/>
                </a:cubicBezTo>
                <a:cubicBezTo>
                  <a:pt x="7192" y="6831"/>
                  <a:pt x="7017" y="6872"/>
                  <a:pt x="6855" y="6954"/>
                </a:cubicBezTo>
                <a:cubicBezTo>
                  <a:pt x="6693" y="7036"/>
                  <a:pt x="6565" y="7146"/>
                  <a:pt x="6470" y="7286"/>
                </a:cubicBezTo>
                <a:cubicBezTo>
                  <a:pt x="6375" y="7425"/>
                  <a:pt x="6328" y="7577"/>
                  <a:pt x="6328" y="7741"/>
                </a:cubicBezTo>
                <a:cubicBezTo>
                  <a:pt x="6328" y="7905"/>
                  <a:pt x="6375" y="8057"/>
                  <a:pt x="6470" y="8197"/>
                </a:cubicBezTo>
                <a:cubicBezTo>
                  <a:pt x="6565" y="8336"/>
                  <a:pt x="6693" y="8447"/>
                  <a:pt x="6855" y="8529"/>
                </a:cubicBezTo>
                <a:cubicBezTo>
                  <a:pt x="7017" y="8611"/>
                  <a:pt x="7192" y="8652"/>
                  <a:pt x="7382" y="8652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924884" y="3680371"/>
            <a:ext cx="14188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人机协同复核机制</a:t>
            </a:r>
            <a:endParaRPr lang="en-US" sz="1100"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6275405" y="3708499"/>
            <a:ext cx="399950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85098"/>
                  </a:srgbClr>
                </a:solidFill>
                <a:latin typeface="Inter"/>
                <a:ea typeface="Inter"/>
                <a:cs typeface="Inter"/>
              </a:rPr>
              <a:t>高风险</a:t>
            </a:r>
            <a:endParaRPr lang="en-US" sz="1100"/>
          </a:p>
        </p:txBody>
      </p:sp>
      <p:sp>
        <p:nvSpPr>
          <p:cNvPr id="19" name="TextBox 19"/>
          <p:cNvSpPr txBox="true"/>
          <p:nvPr/>
        </p:nvSpPr>
        <p:spPr>
          <a:xfrm flipH="false" flipV="false" rot="0">
            <a:off x="666584" y="4072830"/>
            <a:ext cx="6189702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财务报销、成绩修改等高风险操作强制触发人工二次授权，确保关键业务节点绝对安全。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复核流程嵌入智能体执行链路，形成自动化与人工监督的双重保障。</a:t>
            </a:r>
            <a:endParaRPr/>
          </a:p>
        </p:txBody>
      </p:sp>
      <p:sp>
        <p:nvSpPr>
          <p:cNvPr id="20" name="AutoShape 20"/>
          <p:cNvSpPr/>
          <p:nvPr/>
        </p:nvSpPr>
        <p:spPr>
          <a:xfrm flipH="false" flipV="false" rot="0">
            <a:off x="457086" y="4979641"/>
            <a:ext cx="6399200" cy="1421159"/>
          </a:xfrm>
          <a:prstGeom prst="rect">
            <a:avLst/>
          </a:prstGeom>
          <a:solidFill>
            <a:srgbClr val="E4E8ED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AutoShape 21"/>
          <p:cNvSpPr/>
          <p:nvPr/>
        </p:nvSpPr>
        <p:spPr>
          <a:xfrm flipH="false" flipV="false" rot="0">
            <a:off x="457086" y="4979641"/>
            <a:ext cx="6399200" cy="9525"/>
          </a:xfrm>
          <a:prstGeom prst="line">
            <a:avLst/>
          </a:prstGeom>
          <a:ln w="9525">
            <a:solidFill>
              <a:srgbClr val="C0C8D2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2" name="AutoShape 22"/>
          <p:cNvSpPr/>
          <p:nvPr/>
        </p:nvSpPr>
        <p:spPr>
          <a:xfrm flipH="false" flipV="false" rot="0">
            <a:off x="643372" y="5213003"/>
            <a:ext cx="209498" cy="209550"/>
          </a:xfrm>
          <a:custGeom>
            <a:rect b="b" l="l" r="r" t="t"/>
            <a:pathLst>
              <a:path h="10000" w="9998">
                <a:moveTo>
                  <a:pt x="1835" y="6000"/>
                </a:moveTo>
                <a:lnTo>
                  <a:pt x="4472" y="6000"/>
                </a:lnTo>
                <a:lnTo>
                  <a:pt x="4472" y="4500"/>
                </a:lnTo>
                <a:lnTo>
                  <a:pt x="5526" y="4500"/>
                </a:lnTo>
                <a:lnTo>
                  <a:pt x="5526" y="6000"/>
                </a:lnTo>
                <a:lnTo>
                  <a:pt x="8163" y="6000"/>
                </a:lnTo>
                <a:cubicBezTo>
                  <a:pt x="8310" y="6000"/>
                  <a:pt x="8435" y="6048"/>
                  <a:pt x="8537" y="6145"/>
                </a:cubicBezTo>
                <a:cubicBezTo>
                  <a:pt x="8639" y="6241"/>
                  <a:pt x="8690" y="6360"/>
                  <a:pt x="8690" y="6500"/>
                </a:cubicBezTo>
                <a:lnTo>
                  <a:pt x="8690" y="9500"/>
                </a:lnTo>
                <a:cubicBezTo>
                  <a:pt x="8690" y="9640"/>
                  <a:pt x="8639" y="9758"/>
                  <a:pt x="8537" y="9855"/>
                </a:cubicBezTo>
                <a:cubicBezTo>
                  <a:pt x="8435" y="9951"/>
                  <a:pt x="8310" y="10000"/>
                  <a:pt x="8163" y="10000"/>
                </a:cubicBezTo>
                <a:lnTo>
                  <a:pt x="1835" y="10000"/>
                </a:lnTo>
                <a:cubicBezTo>
                  <a:pt x="1687" y="10000"/>
                  <a:pt x="1563" y="9951"/>
                  <a:pt x="1461" y="9855"/>
                </a:cubicBezTo>
                <a:cubicBezTo>
                  <a:pt x="1359" y="9758"/>
                  <a:pt x="1308" y="9640"/>
                  <a:pt x="1308" y="9500"/>
                </a:cubicBezTo>
                <a:lnTo>
                  <a:pt x="1308" y="6500"/>
                </a:lnTo>
                <a:cubicBezTo>
                  <a:pt x="1308" y="6360"/>
                  <a:pt x="1359" y="6241"/>
                  <a:pt x="1461" y="6145"/>
                </a:cubicBezTo>
                <a:cubicBezTo>
                  <a:pt x="1563" y="6048"/>
                  <a:pt x="1687" y="6000"/>
                  <a:pt x="1835" y="6000"/>
                </a:cubicBezTo>
                <a:moveTo>
                  <a:pt x="991" y="3730"/>
                </a:moveTo>
                <a:lnTo>
                  <a:pt x="0" y="3420"/>
                </a:lnTo>
                <a:cubicBezTo>
                  <a:pt x="232" y="2760"/>
                  <a:pt x="594" y="2170"/>
                  <a:pt x="1086" y="1650"/>
                </a:cubicBezTo>
                <a:cubicBezTo>
                  <a:pt x="1578" y="1130"/>
                  <a:pt x="2158" y="726"/>
                  <a:pt x="2826" y="440"/>
                </a:cubicBezTo>
                <a:cubicBezTo>
                  <a:pt x="3515" y="146"/>
                  <a:pt x="4239" y="0"/>
                  <a:pt x="4999" y="0"/>
                </a:cubicBezTo>
                <a:cubicBezTo>
                  <a:pt x="5758" y="0"/>
                  <a:pt x="6482" y="146"/>
                  <a:pt x="7172" y="440"/>
                </a:cubicBezTo>
                <a:cubicBezTo>
                  <a:pt x="7839" y="726"/>
                  <a:pt x="8419" y="1130"/>
                  <a:pt x="8912" y="1650"/>
                </a:cubicBezTo>
                <a:cubicBezTo>
                  <a:pt x="9404" y="2170"/>
                  <a:pt x="9766" y="2760"/>
                  <a:pt x="9998" y="3420"/>
                </a:cubicBezTo>
                <a:lnTo>
                  <a:pt x="9007" y="3730"/>
                </a:lnTo>
                <a:cubicBezTo>
                  <a:pt x="8817" y="3203"/>
                  <a:pt x="8525" y="2733"/>
                  <a:pt x="8131" y="2320"/>
                </a:cubicBezTo>
                <a:cubicBezTo>
                  <a:pt x="7737" y="1906"/>
                  <a:pt x="7273" y="1586"/>
                  <a:pt x="6739" y="1360"/>
                </a:cubicBezTo>
                <a:cubicBezTo>
                  <a:pt x="6191" y="1120"/>
                  <a:pt x="5611" y="1000"/>
                  <a:pt x="4999" y="1000"/>
                </a:cubicBezTo>
                <a:cubicBezTo>
                  <a:pt x="4387" y="1000"/>
                  <a:pt x="3807" y="1120"/>
                  <a:pt x="3259" y="1360"/>
                </a:cubicBezTo>
                <a:cubicBezTo>
                  <a:pt x="2724" y="1586"/>
                  <a:pt x="2260" y="1906"/>
                  <a:pt x="1867" y="2320"/>
                </a:cubicBezTo>
                <a:cubicBezTo>
                  <a:pt x="1473" y="2733"/>
                  <a:pt x="1181" y="3203"/>
                  <a:pt x="991" y="3730"/>
                </a:cubicBezTo>
                <a:moveTo>
                  <a:pt x="2995" y="4370"/>
                </a:moveTo>
                <a:lnTo>
                  <a:pt x="1993" y="4050"/>
                </a:lnTo>
                <a:cubicBezTo>
                  <a:pt x="2133" y="3656"/>
                  <a:pt x="2351" y="3303"/>
                  <a:pt x="2647" y="2990"/>
                </a:cubicBezTo>
                <a:cubicBezTo>
                  <a:pt x="2942" y="2676"/>
                  <a:pt x="3294" y="2433"/>
                  <a:pt x="3702" y="2260"/>
                </a:cubicBezTo>
                <a:cubicBezTo>
                  <a:pt x="4109" y="2086"/>
                  <a:pt x="4541" y="2000"/>
                  <a:pt x="4999" y="2000"/>
                </a:cubicBezTo>
                <a:cubicBezTo>
                  <a:pt x="5456" y="2000"/>
                  <a:pt x="5888" y="2086"/>
                  <a:pt x="6296" y="2260"/>
                </a:cubicBezTo>
                <a:cubicBezTo>
                  <a:pt x="6704" y="2433"/>
                  <a:pt x="7055" y="2676"/>
                  <a:pt x="7351" y="2990"/>
                </a:cubicBezTo>
                <a:cubicBezTo>
                  <a:pt x="7646" y="3303"/>
                  <a:pt x="7864" y="3656"/>
                  <a:pt x="8005" y="4050"/>
                </a:cubicBezTo>
                <a:lnTo>
                  <a:pt x="7003" y="4370"/>
                </a:lnTo>
                <a:cubicBezTo>
                  <a:pt x="6862" y="3963"/>
                  <a:pt x="6607" y="3633"/>
                  <a:pt x="6238" y="3380"/>
                </a:cubicBezTo>
                <a:cubicBezTo>
                  <a:pt x="5869" y="3126"/>
                  <a:pt x="5456" y="3000"/>
                  <a:pt x="4999" y="3000"/>
                </a:cubicBezTo>
                <a:cubicBezTo>
                  <a:pt x="4541" y="3000"/>
                  <a:pt x="4128" y="3126"/>
                  <a:pt x="3760" y="3380"/>
                </a:cubicBezTo>
                <a:cubicBezTo>
                  <a:pt x="3390" y="3633"/>
                  <a:pt x="3135" y="3963"/>
                  <a:pt x="2995" y="4370"/>
                </a:cubicBezTo>
                <a:moveTo>
                  <a:pt x="7636" y="7000"/>
                </a:moveTo>
                <a:lnTo>
                  <a:pt x="2362" y="7000"/>
                </a:lnTo>
                <a:lnTo>
                  <a:pt x="2362" y="9000"/>
                </a:lnTo>
                <a:lnTo>
                  <a:pt x="7636" y="9000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3" name="TextBox 23"/>
          <p:cNvSpPr txBox="true"/>
          <p:nvPr/>
        </p:nvSpPr>
        <p:spPr>
          <a:xfrm flipH="false" flipV="false" rot="0">
            <a:off x="924884" y="5215830"/>
            <a:ext cx="1418871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统一网关鉴权校验</a:t>
            </a:r>
            <a:endParaRPr lang="en-US" sz="1100"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6091946" y="5243960"/>
            <a:ext cx="583409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85098"/>
                  </a:srgbClr>
                </a:solidFill>
                <a:latin typeface="Inter"/>
                <a:ea typeface="Inter"/>
                <a:cs typeface="Inter"/>
              </a:rPr>
              <a:t>MCP 网关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666584" y="5608291"/>
            <a:ext cx="6189702" cy="40570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所有MCP工具调用经统一网关鉴权，实时比对上下文与安全策略，自动拦截异常频次与越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196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权访问。网关层集成审计日志，完整记录智能体操作轨迹，支撑事后溯源分析。</a:t>
            </a:r>
            <a:endParaRPr/>
          </a:p>
        </p:txBody>
      </p:sp>
      <p:pic>
        <p:nvPicPr>
          <p:cNvPr id="26" name="Picture 26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7161009" y="2501354"/>
            <a:ext cx="4570857" cy="3049488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27" name="TextBox 27"/>
          <p:cNvSpPr txBox="true"/>
          <p:nvPr/>
        </p:nvSpPr>
        <p:spPr>
          <a:xfrm flipH="false" flipV="false" rot="0">
            <a:off x="7161009" y="5646092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高校网络安全监控中心 · 数据大屏实时监控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Security Architecture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7152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API密钥全生命周期管理与审计追踪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3525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99925" y="1390650"/>
            <a:ext cx="11589027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访问密钥是智能体连接校园系统的"数字通行证"。平台构建了涵盖密钥生成、分发、轮换、吊销及审计的全生命周期管理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闭环，确保每一次系统交互都有迹可循、有据可查，为校园数据资产提供金融级的安全保障。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211586"/>
            <a:ext cx="5561209" cy="2018407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211586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665542" y="2879750"/>
            <a:ext cx="266633" cy="266700"/>
          </a:xfrm>
          <a:custGeom>
            <a:rect b="b" l="l" r="r" t="t"/>
            <a:pathLst>
              <a:path h="10000" w="9998">
                <a:moveTo>
                  <a:pt x="4237" y="4662"/>
                </a:moveTo>
                <a:lnTo>
                  <a:pt x="8614" y="0"/>
                </a:lnTo>
                <a:lnTo>
                  <a:pt x="9406" y="842"/>
                </a:lnTo>
                <a:lnTo>
                  <a:pt x="8614" y="1684"/>
                </a:lnTo>
                <a:lnTo>
                  <a:pt x="9998" y="3155"/>
                </a:lnTo>
                <a:lnTo>
                  <a:pt x="9205" y="3986"/>
                </a:lnTo>
                <a:lnTo>
                  <a:pt x="7832" y="2527"/>
                </a:lnTo>
                <a:lnTo>
                  <a:pt x="7039" y="3357"/>
                </a:lnTo>
                <a:lnTo>
                  <a:pt x="8223" y="4614"/>
                </a:lnTo>
                <a:lnTo>
                  <a:pt x="7430" y="5457"/>
                </a:lnTo>
                <a:lnTo>
                  <a:pt x="6247" y="4199"/>
                </a:lnTo>
                <a:lnTo>
                  <a:pt x="5030" y="5504"/>
                </a:lnTo>
                <a:cubicBezTo>
                  <a:pt x="5260" y="5884"/>
                  <a:pt x="5404" y="6299"/>
                  <a:pt x="5460" y="6750"/>
                </a:cubicBezTo>
                <a:cubicBezTo>
                  <a:pt x="5515" y="7200"/>
                  <a:pt x="5476" y="7643"/>
                  <a:pt x="5342" y="8078"/>
                </a:cubicBezTo>
                <a:cubicBezTo>
                  <a:pt x="5208" y="8513"/>
                  <a:pt x="4984" y="8897"/>
                  <a:pt x="4672" y="9229"/>
                </a:cubicBezTo>
                <a:cubicBezTo>
                  <a:pt x="4315" y="9608"/>
                  <a:pt x="3896" y="9865"/>
                  <a:pt x="3416" y="10000"/>
                </a:cubicBezTo>
                <a:cubicBezTo>
                  <a:pt x="2936" y="10134"/>
                  <a:pt x="2456" y="10134"/>
                  <a:pt x="1976" y="10000"/>
                </a:cubicBezTo>
                <a:cubicBezTo>
                  <a:pt x="1496" y="9865"/>
                  <a:pt x="1077" y="9608"/>
                  <a:pt x="720" y="9229"/>
                </a:cubicBezTo>
                <a:cubicBezTo>
                  <a:pt x="362" y="8849"/>
                  <a:pt x="122" y="8406"/>
                  <a:pt x="0" y="7900"/>
                </a:cubicBezTo>
                <a:cubicBezTo>
                  <a:pt x="-122" y="7394"/>
                  <a:pt x="-122" y="6886"/>
                  <a:pt x="0" y="6376"/>
                </a:cubicBezTo>
                <a:cubicBezTo>
                  <a:pt x="122" y="5866"/>
                  <a:pt x="362" y="5421"/>
                  <a:pt x="720" y="5042"/>
                </a:cubicBezTo>
                <a:cubicBezTo>
                  <a:pt x="1032" y="4709"/>
                  <a:pt x="1393" y="4470"/>
                  <a:pt x="1803" y="4324"/>
                </a:cubicBezTo>
                <a:cubicBezTo>
                  <a:pt x="2212" y="4177"/>
                  <a:pt x="2631" y="4133"/>
                  <a:pt x="3059" y="4193"/>
                </a:cubicBezTo>
                <a:cubicBezTo>
                  <a:pt x="3487" y="4252"/>
                  <a:pt x="3879" y="4408"/>
                  <a:pt x="4237" y="4662"/>
                </a:cubicBezTo>
                <a:moveTo>
                  <a:pt x="3880" y="8399"/>
                </a:moveTo>
                <a:cubicBezTo>
                  <a:pt x="4096" y="8169"/>
                  <a:pt x="4241" y="7902"/>
                  <a:pt x="4315" y="7598"/>
                </a:cubicBezTo>
                <a:cubicBezTo>
                  <a:pt x="4389" y="7293"/>
                  <a:pt x="4389" y="6987"/>
                  <a:pt x="4315" y="6679"/>
                </a:cubicBezTo>
                <a:cubicBezTo>
                  <a:pt x="4241" y="6370"/>
                  <a:pt x="4096" y="6103"/>
                  <a:pt x="3880" y="5878"/>
                </a:cubicBezTo>
                <a:cubicBezTo>
                  <a:pt x="3664" y="5652"/>
                  <a:pt x="3412" y="5498"/>
                  <a:pt x="3126" y="5415"/>
                </a:cubicBezTo>
                <a:cubicBezTo>
                  <a:pt x="2839" y="5332"/>
                  <a:pt x="2552" y="5332"/>
                  <a:pt x="2266" y="5415"/>
                </a:cubicBezTo>
                <a:cubicBezTo>
                  <a:pt x="1980" y="5498"/>
                  <a:pt x="1729" y="5652"/>
                  <a:pt x="1513" y="5878"/>
                </a:cubicBezTo>
                <a:cubicBezTo>
                  <a:pt x="1297" y="6103"/>
                  <a:pt x="1151" y="6370"/>
                  <a:pt x="1077" y="6679"/>
                </a:cubicBezTo>
                <a:cubicBezTo>
                  <a:pt x="1003" y="6987"/>
                  <a:pt x="1003" y="7293"/>
                  <a:pt x="1077" y="7598"/>
                </a:cubicBezTo>
                <a:cubicBezTo>
                  <a:pt x="1151" y="7902"/>
                  <a:pt x="1297" y="8167"/>
                  <a:pt x="1513" y="8393"/>
                </a:cubicBezTo>
                <a:cubicBezTo>
                  <a:pt x="1729" y="8618"/>
                  <a:pt x="1980" y="8772"/>
                  <a:pt x="2266" y="8855"/>
                </a:cubicBezTo>
                <a:cubicBezTo>
                  <a:pt x="2552" y="8938"/>
                  <a:pt x="2839" y="8938"/>
                  <a:pt x="3126" y="8855"/>
                </a:cubicBezTo>
                <a:cubicBezTo>
                  <a:pt x="3412" y="8772"/>
                  <a:pt x="3664" y="8620"/>
                  <a:pt x="3880" y="8399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1054928" y="2858840"/>
            <a:ext cx="429871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密钥生成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1054928" y="3192215"/>
            <a:ext cx="472530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采用非对称加密算法为每个智能体实例生成唯一密钥对，支持按业务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场景设置密钥有效期与调用额度。</a:t>
            </a:r>
            <a:endParaRPr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5506008" y="3149352"/>
            <a:ext cx="312312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RSA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 flipH="false" flipV="false" rot="0">
            <a:off x="6170657" y="2211586"/>
            <a:ext cx="5561209" cy="2018407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AutoShape 15"/>
          <p:cNvSpPr/>
          <p:nvPr/>
        </p:nvSpPr>
        <p:spPr>
          <a:xfrm flipH="false" flipV="false" rot="0">
            <a:off x="6379113" y="2870225"/>
            <a:ext cx="266633" cy="266700"/>
          </a:xfrm>
          <a:custGeom>
            <a:rect b="b" l="l" r="r" t="t"/>
            <a:pathLst>
              <a:path h="10000" w="9998">
                <a:moveTo>
                  <a:pt x="2230" y="2110"/>
                </a:moveTo>
                <a:lnTo>
                  <a:pt x="1730" y="1220"/>
                </a:lnTo>
                <a:cubicBezTo>
                  <a:pt x="2176" y="833"/>
                  <a:pt x="2676" y="533"/>
                  <a:pt x="3229" y="320"/>
                </a:cubicBezTo>
                <a:cubicBezTo>
                  <a:pt x="3795" y="106"/>
                  <a:pt x="4385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526"/>
                  <a:pt x="9918" y="6036"/>
                  <a:pt x="9758" y="6530"/>
                </a:cubicBezTo>
                <a:cubicBezTo>
                  <a:pt x="9604" y="7010"/>
                  <a:pt x="9381" y="7456"/>
                  <a:pt x="9088" y="7870"/>
                </a:cubicBezTo>
                <a:lnTo>
                  <a:pt x="7498" y="5000"/>
                </a:ln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cubicBezTo>
                  <a:pt x="4472" y="1000"/>
                  <a:pt x="3965" y="1100"/>
                  <a:pt x="3479" y="1300"/>
                </a:cubicBezTo>
                <a:cubicBezTo>
                  <a:pt x="3012" y="1493"/>
                  <a:pt x="2596" y="1763"/>
                  <a:pt x="2230" y="2110"/>
                </a:cubicBezTo>
                <a:moveTo>
                  <a:pt x="7768" y="7890"/>
                </a:moveTo>
                <a:lnTo>
                  <a:pt x="8268" y="8780"/>
                </a:lnTo>
                <a:cubicBezTo>
                  <a:pt x="7821" y="9166"/>
                  <a:pt x="7321" y="9466"/>
                  <a:pt x="6769" y="9680"/>
                </a:cubicBezTo>
                <a:cubicBezTo>
                  <a:pt x="6202" y="9893"/>
                  <a:pt x="5612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473"/>
                  <a:pt x="80" y="3963"/>
                  <a:pt x="240" y="3470"/>
                </a:cubicBezTo>
                <a:cubicBezTo>
                  <a:pt x="393" y="2990"/>
                  <a:pt x="616" y="2543"/>
                  <a:pt x="910" y="2130"/>
                </a:cubicBezTo>
                <a:lnTo>
                  <a:pt x="2499" y="5000"/>
                </a:ln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525" y="9000"/>
                  <a:pt x="6032" y="8900"/>
                  <a:pt x="6519" y="8700"/>
                </a:cubicBezTo>
                <a:cubicBezTo>
                  <a:pt x="6985" y="8506"/>
                  <a:pt x="7402" y="8236"/>
                  <a:pt x="7768" y="789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6" name="TextBox 16"/>
          <p:cNvSpPr txBox="true"/>
          <p:nvPr/>
        </p:nvSpPr>
        <p:spPr>
          <a:xfrm flipH="false" flipV="false" rot="0">
            <a:off x="6768499" y="2849315"/>
            <a:ext cx="4298569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自动轮换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6768499" y="3182690"/>
            <a:ext cx="472530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建立自动化密钥轮换机制，在检测到潜在泄露风险或达到生命周期阈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值时，无缝触发密钥更新而不中断服务。</a:t>
            </a:r>
            <a:endParaRPr/>
          </a:p>
        </p:txBody>
      </p:sp>
      <p:sp>
        <p:nvSpPr>
          <p:cNvPr id="18" name="TextBox 18"/>
          <p:cNvSpPr txBox="true"/>
          <p:nvPr/>
        </p:nvSpPr>
        <p:spPr>
          <a:xfrm flipH="false" flipV="false" rot="0">
            <a:off x="11219430" y="3139827"/>
            <a:ext cx="312461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Auto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 flipH="false" flipV="false" rot="0">
            <a:off x="457086" y="4382393"/>
            <a:ext cx="5561209" cy="2018407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665542" y="5041031"/>
            <a:ext cx="266633" cy="266700"/>
          </a:xfrm>
          <a:custGeom>
            <a:rect b="b" l="l" r="r" t="t"/>
            <a:pathLst>
              <a:path h="10000" w="9998">
                <a:moveTo>
                  <a:pt x="6665" y="3000"/>
                </a:moveTo>
                <a:lnTo>
                  <a:pt x="6665" y="1000"/>
                </a:lnTo>
                <a:lnTo>
                  <a:pt x="1111" y="1000"/>
                </a:lnTo>
                <a:lnTo>
                  <a:pt x="1111" y="9000"/>
                </a:lnTo>
                <a:lnTo>
                  <a:pt x="8887" y="9000"/>
                </a:lnTo>
                <a:lnTo>
                  <a:pt x="8887" y="3000"/>
                </a:lnTo>
                <a:lnTo>
                  <a:pt x="6665" y="3000"/>
                </a:lnTo>
                <a:moveTo>
                  <a:pt x="0" y="9500"/>
                </a:moveTo>
                <a:lnTo>
                  <a:pt x="0" y="500"/>
                </a:lnTo>
                <a:cubicBezTo>
                  <a:pt x="0" y="360"/>
                  <a:pt x="53" y="241"/>
                  <a:pt x="161" y="145"/>
                </a:cubicBezTo>
                <a:cubicBezTo>
                  <a:pt x="268" y="48"/>
                  <a:pt x="399" y="0"/>
                  <a:pt x="555" y="0"/>
                </a:cubicBezTo>
                <a:lnTo>
                  <a:pt x="7221" y="0"/>
                </a:lnTo>
                <a:lnTo>
                  <a:pt x="9998" y="2500"/>
                </a:lnTo>
                <a:lnTo>
                  <a:pt x="9998" y="9500"/>
                </a:lnTo>
                <a:cubicBezTo>
                  <a:pt x="9998" y="9633"/>
                  <a:pt x="9944" y="9750"/>
                  <a:pt x="9837" y="9850"/>
                </a:cubicBezTo>
                <a:cubicBezTo>
                  <a:pt x="9729" y="9950"/>
                  <a:pt x="9598" y="10000"/>
                  <a:pt x="9443" y="10000"/>
                </a:cubicBezTo>
                <a:lnTo>
                  <a:pt x="555" y="10000"/>
                </a:lnTo>
                <a:cubicBezTo>
                  <a:pt x="399" y="10000"/>
                  <a:pt x="268" y="9951"/>
                  <a:pt x="161" y="9855"/>
                </a:cubicBezTo>
                <a:cubicBezTo>
                  <a:pt x="53" y="9758"/>
                  <a:pt x="0" y="9640"/>
                  <a:pt x="0" y="9500"/>
                </a:cubicBezTo>
                <a:moveTo>
                  <a:pt x="6665" y="4000"/>
                </a:moveTo>
                <a:lnTo>
                  <a:pt x="6665" y="4500"/>
                </a:lnTo>
                <a:lnTo>
                  <a:pt x="7221" y="4500"/>
                </a:lnTo>
                <a:lnTo>
                  <a:pt x="7221" y="7000"/>
                </a:lnTo>
                <a:lnTo>
                  <a:pt x="2777" y="7000"/>
                </a:lnTo>
                <a:lnTo>
                  <a:pt x="2777" y="4500"/>
                </a:lnTo>
                <a:lnTo>
                  <a:pt x="3333" y="4500"/>
                </a:lnTo>
                <a:lnTo>
                  <a:pt x="3333" y="4000"/>
                </a:lnTo>
                <a:cubicBezTo>
                  <a:pt x="3333" y="3726"/>
                  <a:pt x="3407" y="3475"/>
                  <a:pt x="3555" y="3245"/>
                </a:cubicBezTo>
                <a:cubicBezTo>
                  <a:pt x="3703" y="3015"/>
                  <a:pt x="3904" y="2833"/>
                  <a:pt x="4160" y="2700"/>
                </a:cubicBezTo>
                <a:cubicBezTo>
                  <a:pt x="4416" y="2566"/>
                  <a:pt x="4695" y="2500"/>
                  <a:pt x="4999" y="2500"/>
                </a:cubicBezTo>
                <a:cubicBezTo>
                  <a:pt x="5302" y="2500"/>
                  <a:pt x="5582" y="2566"/>
                  <a:pt x="5838" y="2700"/>
                </a:cubicBezTo>
                <a:cubicBezTo>
                  <a:pt x="6093" y="2833"/>
                  <a:pt x="6295" y="3015"/>
                  <a:pt x="6443" y="3245"/>
                </a:cubicBezTo>
                <a:cubicBezTo>
                  <a:pt x="6591" y="3475"/>
                  <a:pt x="6665" y="3726"/>
                  <a:pt x="6665" y="4000"/>
                </a:cubicBezTo>
                <a:moveTo>
                  <a:pt x="4444" y="4500"/>
                </a:moveTo>
                <a:lnTo>
                  <a:pt x="5554" y="4500"/>
                </a:lnTo>
                <a:lnTo>
                  <a:pt x="5554" y="4000"/>
                </a:lnTo>
                <a:cubicBezTo>
                  <a:pt x="5554" y="3860"/>
                  <a:pt x="5500" y="3741"/>
                  <a:pt x="5393" y="3645"/>
                </a:cubicBezTo>
                <a:cubicBezTo>
                  <a:pt x="5285" y="3548"/>
                  <a:pt x="5154" y="3500"/>
                  <a:pt x="4999" y="3500"/>
                </a:cubicBezTo>
                <a:cubicBezTo>
                  <a:pt x="4843" y="3500"/>
                  <a:pt x="4712" y="3548"/>
                  <a:pt x="4605" y="3645"/>
                </a:cubicBezTo>
                <a:cubicBezTo>
                  <a:pt x="4497" y="3741"/>
                  <a:pt x="4444" y="3860"/>
                  <a:pt x="4444" y="4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1054928" y="5020122"/>
            <a:ext cx="435049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区块链审计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1054928" y="5353497"/>
            <a:ext cx="472530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详细记录每次API调用的时间戳、调用方身份、请求参数及响应状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态，形成不可篡改的区块链审计日志。</a:t>
            </a:r>
            <a:endParaRPr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5557787" y="5310635"/>
            <a:ext cx="26053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Log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 flipH="false" flipV="false" rot="0">
            <a:off x="6170657" y="4382393"/>
            <a:ext cx="5561209" cy="2018407"/>
          </a:xfrm>
          <a:prstGeom prst="rect">
            <a:avLst/>
          </a:prstGeom>
          <a:solidFill>
            <a:srgbClr val="E6EAEF">
              <a:alpha val="100000"/>
            </a:srgbClr>
          </a:solidFill>
          <a:ln w="9525">
            <a:solidFill>
              <a:srgbClr val="C5CED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5" name="AutoShape 25"/>
          <p:cNvSpPr/>
          <p:nvPr/>
        </p:nvSpPr>
        <p:spPr>
          <a:xfrm flipH="false" flipV="false" rot="0">
            <a:off x="6170657" y="4382393"/>
            <a:ext cx="5561209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6" name="AutoShape 26"/>
          <p:cNvSpPr/>
          <p:nvPr/>
        </p:nvSpPr>
        <p:spPr>
          <a:xfrm flipH="false" flipV="false" rot="0">
            <a:off x="6379113" y="5050556"/>
            <a:ext cx="266633" cy="266700"/>
          </a:xfrm>
          <a:custGeom>
            <a:rect b="b" l="l" r="r" t="t"/>
            <a:pathLst>
              <a:path h="10000" w="9998">
                <a:moveTo>
                  <a:pt x="4999" y="0"/>
                </a:move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cubicBezTo>
                  <a:pt x="9998" y="5680"/>
                  <a:pt x="9868" y="6330"/>
                  <a:pt x="9608" y="6950"/>
                </a:cubicBezTo>
                <a:cubicBezTo>
                  <a:pt x="9354" y="7543"/>
                  <a:pt x="8996" y="8071"/>
                  <a:pt x="8533" y="8535"/>
                </a:cubicBezTo>
                <a:cubicBezTo>
                  <a:pt x="8069" y="8998"/>
                  <a:pt x="7541" y="9356"/>
                  <a:pt x="6949" y="9610"/>
                </a:cubicBezTo>
                <a:cubicBezTo>
                  <a:pt x="6329" y="9870"/>
                  <a:pt x="5679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  <a:cubicBezTo>
                  <a:pt x="0" y="4320"/>
                  <a:pt x="130" y="3670"/>
                  <a:pt x="390" y="3050"/>
                </a:cubicBezTo>
                <a:cubicBezTo>
                  <a:pt x="643" y="2456"/>
                  <a:pt x="1001" y="1928"/>
                  <a:pt x="1465" y="1465"/>
                </a:cubicBezTo>
                <a:cubicBezTo>
                  <a:pt x="1928" y="1001"/>
                  <a:pt x="2456" y="643"/>
                  <a:pt x="3049" y="390"/>
                </a:cubicBezTo>
                <a:cubicBezTo>
                  <a:pt x="3669" y="130"/>
                  <a:pt x="4319" y="0"/>
                  <a:pt x="4999" y="0"/>
                </a:cubicBezTo>
                <a:moveTo>
                  <a:pt x="4999" y="1000"/>
                </a:moveTo>
                <a:cubicBezTo>
                  <a:pt x="4272" y="1000"/>
                  <a:pt x="3599" y="1183"/>
                  <a:pt x="2979" y="1550"/>
                </a:cubicBezTo>
                <a:cubicBezTo>
                  <a:pt x="2379" y="1903"/>
                  <a:pt x="1903" y="2380"/>
                  <a:pt x="1550" y="2980"/>
                </a:cubicBezTo>
                <a:cubicBezTo>
                  <a:pt x="1183" y="3600"/>
                  <a:pt x="1000" y="4273"/>
                  <a:pt x="1000" y="5000"/>
                </a:cubicBez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725" y="9000"/>
                  <a:pt x="6399" y="8816"/>
                  <a:pt x="7019" y="8450"/>
                </a:cubicBezTo>
                <a:cubicBezTo>
                  <a:pt x="7618" y="8096"/>
                  <a:pt x="8094" y="7620"/>
                  <a:pt x="8448" y="7020"/>
                </a:cubicBezTo>
                <a:cubicBezTo>
                  <a:pt x="8814" y="6400"/>
                  <a:pt x="8998" y="5726"/>
                  <a:pt x="8998" y="5000"/>
                </a:cubicBez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6919" y="2670"/>
                </a:moveTo>
                <a:cubicBezTo>
                  <a:pt x="6979" y="2630"/>
                  <a:pt x="7044" y="2613"/>
                  <a:pt x="7114" y="2620"/>
                </a:cubicBezTo>
                <a:cubicBezTo>
                  <a:pt x="7184" y="2626"/>
                  <a:pt x="7244" y="2655"/>
                  <a:pt x="7294" y="2705"/>
                </a:cubicBezTo>
                <a:cubicBezTo>
                  <a:pt x="7344" y="2755"/>
                  <a:pt x="7372" y="2815"/>
                  <a:pt x="7379" y="2885"/>
                </a:cubicBezTo>
                <a:cubicBezTo>
                  <a:pt x="7385" y="2955"/>
                  <a:pt x="7369" y="3020"/>
                  <a:pt x="7329" y="3080"/>
                </a:cubicBezTo>
                <a:cubicBezTo>
                  <a:pt x="6235" y="4606"/>
                  <a:pt x="5635" y="5423"/>
                  <a:pt x="5529" y="5530"/>
                </a:cubicBezTo>
                <a:cubicBezTo>
                  <a:pt x="5382" y="5676"/>
                  <a:pt x="5205" y="5750"/>
                  <a:pt x="4999" y="5750"/>
                </a:cubicBezTo>
                <a:cubicBezTo>
                  <a:pt x="4792" y="5750"/>
                  <a:pt x="4615" y="5676"/>
                  <a:pt x="4469" y="5530"/>
                </a:cubicBezTo>
                <a:cubicBezTo>
                  <a:pt x="4322" y="5383"/>
                  <a:pt x="4249" y="5206"/>
                  <a:pt x="4249" y="5000"/>
                </a:cubicBezTo>
                <a:cubicBezTo>
                  <a:pt x="4249" y="4793"/>
                  <a:pt x="4322" y="4616"/>
                  <a:pt x="4469" y="4470"/>
                </a:cubicBezTo>
                <a:cubicBezTo>
                  <a:pt x="4655" y="4283"/>
                  <a:pt x="5472" y="3683"/>
                  <a:pt x="6919" y="2670"/>
                </a:cubicBezTo>
                <a:moveTo>
                  <a:pt x="7748" y="4500"/>
                </a:moveTo>
                <a:cubicBezTo>
                  <a:pt x="7888" y="4500"/>
                  <a:pt x="8006" y="4548"/>
                  <a:pt x="8103" y="4645"/>
                </a:cubicBezTo>
                <a:cubicBezTo>
                  <a:pt x="8199" y="4741"/>
                  <a:pt x="8248" y="4860"/>
                  <a:pt x="8248" y="5000"/>
                </a:cubicBezTo>
                <a:cubicBezTo>
                  <a:pt x="8248" y="5140"/>
                  <a:pt x="8199" y="5258"/>
                  <a:pt x="8103" y="5355"/>
                </a:cubicBezTo>
                <a:cubicBezTo>
                  <a:pt x="8006" y="5451"/>
                  <a:pt x="7888" y="5500"/>
                  <a:pt x="7748" y="5500"/>
                </a:cubicBezTo>
                <a:cubicBezTo>
                  <a:pt x="7608" y="5500"/>
                  <a:pt x="7490" y="5451"/>
                  <a:pt x="7394" y="5355"/>
                </a:cubicBezTo>
                <a:cubicBezTo>
                  <a:pt x="7297" y="5258"/>
                  <a:pt x="7249" y="5140"/>
                  <a:pt x="7249" y="5000"/>
                </a:cubicBezTo>
                <a:cubicBezTo>
                  <a:pt x="7249" y="4860"/>
                  <a:pt x="7297" y="4741"/>
                  <a:pt x="7394" y="4645"/>
                </a:cubicBezTo>
                <a:cubicBezTo>
                  <a:pt x="7490" y="4548"/>
                  <a:pt x="7608" y="4500"/>
                  <a:pt x="7748" y="4500"/>
                </a:cubicBezTo>
                <a:moveTo>
                  <a:pt x="2250" y="4500"/>
                </a:moveTo>
                <a:cubicBezTo>
                  <a:pt x="2390" y="4500"/>
                  <a:pt x="2508" y="4548"/>
                  <a:pt x="2604" y="4645"/>
                </a:cubicBezTo>
                <a:cubicBezTo>
                  <a:pt x="2700" y="4741"/>
                  <a:pt x="2749" y="4860"/>
                  <a:pt x="2749" y="5000"/>
                </a:cubicBezTo>
                <a:cubicBezTo>
                  <a:pt x="2749" y="5140"/>
                  <a:pt x="2700" y="5258"/>
                  <a:pt x="2604" y="5355"/>
                </a:cubicBezTo>
                <a:cubicBezTo>
                  <a:pt x="2508" y="5451"/>
                  <a:pt x="2390" y="5500"/>
                  <a:pt x="2250" y="5500"/>
                </a:cubicBezTo>
                <a:cubicBezTo>
                  <a:pt x="2110" y="5500"/>
                  <a:pt x="1991" y="5451"/>
                  <a:pt x="1895" y="5355"/>
                </a:cubicBezTo>
                <a:cubicBezTo>
                  <a:pt x="1798" y="5258"/>
                  <a:pt x="1750" y="5140"/>
                  <a:pt x="1750" y="5000"/>
                </a:cubicBezTo>
                <a:cubicBezTo>
                  <a:pt x="1750" y="4860"/>
                  <a:pt x="1798" y="4741"/>
                  <a:pt x="1895" y="4645"/>
                </a:cubicBezTo>
                <a:cubicBezTo>
                  <a:pt x="1991" y="4548"/>
                  <a:pt x="2110" y="4500"/>
                  <a:pt x="2250" y="4500"/>
                </a:cubicBezTo>
                <a:moveTo>
                  <a:pt x="3409" y="2700"/>
                </a:moveTo>
                <a:cubicBezTo>
                  <a:pt x="3509" y="2800"/>
                  <a:pt x="3559" y="2918"/>
                  <a:pt x="3559" y="3055"/>
                </a:cubicBezTo>
                <a:cubicBezTo>
                  <a:pt x="3559" y="3191"/>
                  <a:pt x="3509" y="3310"/>
                  <a:pt x="3409" y="3410"/>
                </a:cubicBezTo>
                <a:cubicBezTo>
                  <a:pt x="3309" y="3510"/>
                  <a:pt x="3190" y="3560"/>
                  <a:pt x="3054" y="3560"/>
                </a:cubicBezTo>
                <a:cubicBezTo>
                  <a:pt x="2917" y="3560"/>
                  <a:pt x="2800" y="3510"/>
                  <a:pt x="2704" y="3410"/>
                </a:cubicBezTo>
                <a:cubicBezTo>
                  <a:pt x="2607" y="3310"/>
                  <a:pt x="2559" y="3191"/>
                  <a:pt x="2559" y="3055"/>
                </a:cubicBezTo>
                <a:cubicBezTo>
                  <a:pt x="2559" y="2918"/>
                  <a:pt x="2607" y="2801"/>
                  <a:pt x="2704" y="2705"/>
                </a:cubicBezTo>
                <a:cubicBezTo>
                  <a:pt x="2800" y="2608"/>
                  <a:pt x="2917" y="2560"/>
                  <a:pt x="3054" y="2560"/>
                </a:cubicBezTo>
                <a:cubicBezTo>
                  <a:pt x="3190" y="2560"/>
                  <a:pt x="3309" y="2606"/>
                  <a:pt x="3409" y="2700"/>
                </a:cubicBezTo>
                <a:moveTo>
                  <a:pt x="4999" y="1750"/>
                </a:moveTo>
                <a:cubicBezTo>
                  <a:pt x="5139" y="1750"/>
                  <a:pt x="5257" y="1798"/>
                  <a:pt x="5354" y="1895"/>
                </a:cubicBezTo>
                <a:cubicBezTo>
                  <a:pt x="5450" y="1991"/>
                  <a:pt x="5499" y="2110"/>
                  <a:pt x="5499" y="2250"/>
                </a:cubicBezTo>
                <a:cubicBezTo>
                  <a:pt x="5499" y="2390"/>
                  <a:pt x="5450" y="2508"/>
                  <a:pt x="5354" y="2605"/>
                </a:cubicBezTo>
                <a:cubicBezTo>
                  <a:pt x="5257" y="2701"/>
                  <a:pt x="5139" y="2750"/>
                  <a:pt x="4999" y="2750"/>
                </a:cubicBezTo>
                <a:cubicBezTo>
                  <a:pt x="4859" y="2750"/>
                  <a:pt x="4740" y="2701"/>
                  <a:pt x="4644" y="2605"/>
                </a:cubicBezTo>
                <a:cubicBezTo>
                  <a:pt x="4547" y="2508"/>
                  <a:pt x="4499" y="2390"/>
                  <a:pt x="4499" y="2250"/>
                </a:cubicBezTo>
                <a:cubicBezTo>
                  <a:pt x="4499" y="2110"/>
                  <a:pt x="4547" y="1991"/>
                  <a:pt x="4644" y="1895"/>
                </a:cubicBezTo>
                <a:cubicBezTo>
                  <a:pt x="4740" y="1798"/>
                  <a:pt x="4859" y="1750"/>
                  <a:pt x="4999" y="175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6768499" y="5029647"/>
            <a:ext cx="4328328" cy="2095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5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安全看板</a:t>
            </a:r>
            <a:endParaRPr lang="en-US" sz="1100"/>
          </a:p>
        </p:txBody>
      </p:sp>
      <p:sp>
        <p:nvSpPr>
          <p:cNvPr id="28" name="TextBox 28"/>
          <p:cNvSpPr txBox="true"/>
          <p:nvPr/>
        </p:nvSpPr>
        <p:spPr>
          <a:xfrm flipH="false" flipV="false" rot="0">
            <a:off x="6768499" y="5363022"/>
            <a:ext cx="4725302" cy="3905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提供可视化安全看板，实时监测密钥使用异常与流量突增，支持一键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熔断高危智能体的系统访问权限。</a:t>
            </a:r>
            <a:endParaRPr/>
          </a:p>
        </p:txBody>
      </p:sp>
      <p:sp>
        <p:nvSpPr>
          <p:cNvPr id="29" name="TextBox 29"/>
          <p:cNvSpPr txBox="true"/>
          <p:nvPr/>
        </p:nvSpPr>
        <p:spPr>
          <a:xfrm flipH="false" flipV="false" rot="0">
            <a:off x="11249189" y="5320160"/>
            <a:ext cx="282703" cy="1524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1000">
                <a:ln/>
                <a:solidFill>
                  <a:srgbClr val="5B8CB8">
                    <a:alpha val="70196"/>
                  </a:srgbClr>
                </a:solidFill>
                <a:latin typeface="Inter"/>
                <a:ea typeface="Inter"/>
                <a:cs typeface="Inter"/>
              </a:rPr>
              <a:t>Live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pic>
        <p:nvPicPr>
          <p:cNvPr id="3" name="Picture 3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4" name="AutoShape 4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18039"/>
            </a:srgbClr>
          </a:solidFill>
          <a:ln>
            <a:headEnd type="none"/>
            <a:tailEnd type="none"/>
          </a:ln>
        </p:spPr>
      </p:sp>
      <p:sp>
        <p:nvSpPr>
          <p:cNvPr id="5" name="TextBox 5"/>
          <p:cNvSpPr txBox="true"/>
          <p:nvPr/>
        </p:nvSpPr>
        <p:spPr>
          <a:xfrm flipH="false" flipV="false" rot="0">
            <a:off x="2781647" y="2329310"/>
            <a:ext cx="6625660" cy="2000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000">
                <a:ln/>
                <a:solidFill>
                  <a:srgbClr val="F1F3F5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Chapter 04</a:t>
            </a:r>
            <a:endParaRPr lang="en-US" sz="1100"/>
          </a:p>
        </p:txBody>
      </p:sp>
      <p:sp>
        <p:nvSpPr>
          <p:cNvPr id="6" name="TextBox 6"/>
          <p:cNvSpPr txBox="true"/>
          <p:nvPr/>
        </p:nvSpPr>
        <p:spPr>
          <a:xfrm flipH="false" flipV="false" rot="0">
            <a:off x="1470426" y="2834135"/>
            <a:ext cx="9248099" cy="71244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1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智能体生态与未来演进</a:t>
            </a:r>
            <a:endParaRPr lang="en-US" sz="1100"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2052124" y="3813274"/>
            <a:ext cx="8084703" cy="324743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0000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走向开放协同、持续成长的数字劳动力网络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5865933" y="4519017"/>
            <a:ext cx="457086" cy="9525"/>
          </a:xfrm>
          <a:prstGeom prst="rect">
            <a:avLst/>
          </a:prstGeom>
          <a:solidFill>
            <a:srgbClr val="5B8CB8">
              <a:alpha val="60000"/>
            </a:srgbClr>
          </a:solidFill>
          <a:ln>
            <a:headEnd type="none"/>
            <a:tailEnd type="none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TextBox 3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4901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ECOSYSTEM</a:t>
            </a:r>
            <a:endParaRPr lang="en-US" sz="1100"/>
          </a:p>
        </p:txBody>
      </p:sp>
      <p:sp>
        <p:nvSpPr>
          <p:cNvPr id="4" name="TextBox 4"/>
          <p:cNvSpPr txBox="true"/>
          <p:nvPr/>
        </p:nvSpPr>
        <p:spPr>
          <a:xfrm flipH="false" flipV="false" rot="0">
            <a:off x="457086" y="762000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校级AI中心与SKILLS广场的构建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 flipH="false" flipV="false" rot="0">
            <a:off x="457086" y="133350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Box 6"/>
          <p:cNvSpPr txBox="true"/>
          <p:nvPr/>
        </p:nvSpPr>
        <p:spPr>
          <a:xfrm flipH="false" flipV="false" rot="0">
            <a:off x="580880" y="137160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校园开放平台的终极形态是一个繁荣的智能体生态。通过建设校级AI中心与SKILLS广场，平台将分散的算力、模型与工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具能力集中开放，鼓励师生基于MCP协议自主创作个性化智能体，实现从"学校单向提供"到"师生共建共享"的生态跃迁。</a:t>
            </a:r>
            <a:endParaRPr/>
          </a:p>
        </p:txBody>
      </p:sp>
      <p:sp>
        <p:nvSpPr>
          <p:cNvPr id="7" name="TextBox 7"/>
          <p:cNvSpPr txBox="true"/>
          <p:nvPr/>
        </p:nvSpPr>
        <p:spPr>
          <a:xfrm flipH="false" flipV="false" rot="0">
            <a:off x="457086" y="2494359"/>
            <a:ext cx="639920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01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531778" y="2703910"/>
            <a:ext cx="9522" cy="266700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9" name="TextBox 9"/>
          <p:cNvSpPr txBox="true"/>
          <p:nvPr/>
        </p:nvSpPr>
        <p:spPr>
          <a:xfrm flipH="false" flipV="false" rot="0">
            <a:off x="749311" y="2494359"/>
            <a:ext cx="610697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校级AI中心统筹管理</a:t>
            </a:r>
            <a:endParaRPr lang="en-US" sz="1100"/>
          </a:p>
        </p:txBody>
      </p:sp>
      <p:sp>
        <p:nvSpPr>
          <p:cNvPr id="10" name="TextBox 10"/>
          <p:cNvSpPr txBox="true"/>
          <p:nvPr/>
        </p:nvSpPr>
        <p:spPr>
          <a:xfrm flipH="false" flipV="false" rot="0">
            <a:off x="749311" y="2793355"/>
            <a:ext cx="10982555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统筹管理智算资源与基础大模型，为全校师生提供低门槛的智能体开发环境与API调用额度，避免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各院系重复建设"烟囱式"AI应用。</a:t>
            </a:r>
            <a:endParaRPr/>
          </a:p>
        </p:txBody>
      </p:sp>
      <p:sp>
        <p:nvSpPr>
          <p:cNvPr id="11" name="TextBox 11"/>
          <p:cNvSpPr txBox="true"/>
          <p:nvPr/>
        </p:nvSpPr>
        <p:spPr>
          <a:xfrm flipH="false" flipV="false" rot="0">
            <a:off x="457086" y="3935165"/>
            <a:ext cx="639920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02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 flipH="false" flipV="false" rot="0">
            <a:off x="531778" y="4144715"/>
            <a:ext cx="9522" cy="266700"/>
          </a:xfrm>
          <a:prstGeom prst="rect">
            <a:avLst/>
          </a:prstGeom>
          <a:solidFill>
            <a:srgbClr val="C5CDD6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3" name="TextBox 13"/>
          <p:cNvSpPr txBox="true"/>
          <p:nvPr/>
        </p:nvSpPr>
        <p:spPr>
          <a:xfrm flipH="false" flipV="false" rot="0">
            <a:off x="749311" y="3935165"/>
            <a:ext cx="610697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SKILLS广场开放汇聚</a:t>
            </a:r>
            <a:endParaRPr lang="en-US" sz="1100"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749311" y="4234160"/>
            <a:ext cx="10982555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作为校园智能体的"应用商店"，汇聚官方及师生开发者提交的各类MCP工具与Agent模板，支持一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键订阅与灵活组合。</a:t>
            </a:r>
            <a:endParaRPr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457086" y="5375970"/>
            <a:ext cx="6399200" cy="16192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true" i="false" lang="en-US" strike="noStrike" sz="1100">
                <a:ln/>
                <a:solidFill>
                  <a:srgbClr val="5B8CB8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03</a:t>
            </a:r>
            <a:endParaRPr lang="en-US" sz="1100"/>
          </a:p>
        </p:txBody>
      </p:sp>
      <p:sp>
        <p:nvSpPr>
          <p:cNvPr id="16" name="TextBox 16"/>
          <p:cNvSpPr txBox="true"/>
          <p:nvPr/>
        </p:nvSpPr>
        <p:spPr>
          <a:xfrm flipH="false" flipV="false" rot="0">
            <a:off x="749311" y="5375970"/>
            <a:ext cx="6106974" cy="1905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3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能力评估与审核保障</a:t>
            </a:r>
            <a:endParaRPr lang="en-US" sz="1100"/>
          </a:p>
        </p:txBody>
      </p:sp>
      <p:sp>
        <p:nvSpPr>
          <p:cNvPr id="17" name="TextBox 17"/>
          <p:cNvSpPr txBox="true"/>
          <p:nvPr/>
        </p:nvSpPr>
        <p:spPr>
          <a:xfrm flipH="false" flipV="false" rot="0">
            <a:off x="749311" y="5674966"/>
            <a:ext cx="10982555" cy="38338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建立智能体能力评估与上架审核机制，确保每个工具集符合校园数据安全规范与业务逻辑标准，</a:t>
            </a:r>
            <a:endParaRPr lang="en-US" sz="1100"/>
          </a:p>
          <a:p>
            <a:pPr algn="l"/>
            <a:r>
              <a:rPr b="false" i="false" strike="noStrike" sz="11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保障生态健康有序发展。</a:t>
            </a:r>
            <a:endParaRPr/>
          </a:p>
        </p:txBody>
      </p:sp>
      <p:pic>
        <p:nvPicPr>
          <p:cNvPr id="18" name="Picture 18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7161009" y="2639318"/>
            <a:ext cx="4570857" cy="304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19" name="TextBox 19"/>
          <p:cNvSpPr txBox="true"/>
          <p:nvPr/>
        </p:nvSpPr>
        <p:spPr>
          <a:xfrm flipH="false" flipV="false" rot="0">
            <a:off x="7161009" y="5782568"/>
            <a:ext cx="4570857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高校创客空间 · 师生团队共建智能体生态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E0E0E0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F1F3F5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457086" y="476250"/>
            <a:ext cx="11274781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50196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GOVERNANCE FRAMEWORK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457086" y="733425"/>
            <a:ext cx="11274781" cy="41910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30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智能体的"驯养"机制与人机协同责任链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 flipH="false" flipV="false" rot="0">
            <a:off x="457086" y="1276350"/>
            <a:ext cx="9522" cy="649486"/>
          </a:xfrm>
          <a:prstGeom prst="line">
            <a:avLst/>
          </a:prstGeom>
          <a:ln w="9525">
            <a:solidFill>
              <a:srgbClr val="5B8CB8">
                <a:alpha val="78039"/>
              </a:srgbClr>
            </a:solidFill>
            <a:prstDash val="solid"/>
            <a:headEnd type="none"/>
            <a:tailEnd type="none"/>
          </a:ln>
        </p:spPr>
      </p:sp>
      <p:sp>
        <p:nvSpPr>
          <p:cNvPr id="7" name="TextBox 7"/>
          <p:cNvSpPr txBox="true"/>
          <p:nvPr/>
        </p:nvSpPr>
        <p:spPr>
          <a:xfrm flipH="false" flipV="false" rot="0">
            <a:off x="580880" y="1314450"/>
            <a:ext cx="11608072" cy="562868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true" lang="en-US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智能体并非一劳永逸的标准软件，而是需要持续"驯养"的数字劳动力。高校必须建立基于真实业务反馈的优化机制与明确</a:t>
            </a:r>
            <a:endParaRPr lang="en-US" sz="1100"/>
          </a:p>
          <a:p>
            <a:pPr algn="l"/>
            <a:r>
              <a:rPr b="false" i="true" strike="noStrike" sz="1600">
                <a:ln/>
                <a:solidFill>
                  <a:srgbClr val="0A1F3D">
                    <a:alpha val="78039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的责任边界，让智能体在安全可控的框架内不断进化，最终实现人机协同的校园治理新范式。</a:t>
            </a:r>
            <a:endParaRPr/>
          </a:p>
        </p:txBody>
      </p:sp>
      <p:sp>
        <p:nvSpPr>
          <p:cNvPr id="8" name="AutoShape 8"/>
          <p:cNvSpPr/>
          <p:nvPr/>
        </p:nvSpPr>
        <p:spPr>
          <a:xfrm flipH="false" flipV="false" rot="0">
            <a:off x="457086" y="2078236"/>
            <a:ext cx="5504073" cy="43225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AutoShape 9"/>
          <p:cNvSpPr/>
          <p:nvPr/>
        </p:nvSpPr>
        <p:spPr>
          <a:xfrm flipH="false" flipV="false" rot="0">
            <a:off x="457086" y="2078236"/>
            <a:ext cx="550407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0" name="AutoShape 10"/>
          <p:cNvSpPr/>
          <p:nvPr/>
        </p:nvSpPr>
        <p:spPr>
          <a:xfrm flipH="false" flipV="false" rot="0">
            <a:off x="652894" y="2373511"/>
            <a:ext cx="209498" cy="209550"/>
          </a:xfrm>
          <a:custGeom>
            <a:rect b="b" l="l" r="r" t="t"/>
            <a:pathLst>
              <a:path h="10000" w="9998">
                <a:moveTo>
                  <a:pt x="4999" y="1000"/>
                </a:moveTo>
                <a:cubicBezTo>
                  <a:pt x="4325" y="1000"/>
                  <a:pt x="3692" y="1160"/>
                  <a:pt x="3099" y="1480"/>
                </a:cubicBezTo>
                <a:cubicBezTo>
                  <a:pt x="2526" y="1786"/>
                  <a:pt x="2056" y="2210"/>
                  <a:pt x="1690" y="2750"/>
                </a:cubicBezTo>
                <a:lnTo>
                  <a:pt x="2999" y="2750"/>
                </a:lnTo>
                <a:lnTo>
                  <a:pt x="2999" y="3750"/>
                </a:lnTo>
                <a:lnTo>
                  <a:pt x="0" y="3750"/>
                </a:lnTo>
                <a:lnTo>
                  <a:pt x="0" y="750"/>
                </a:lnTo>
                <a:lnTo>
                  <a:pt x="1000" y="750"/>
                </a:lnTo>
                <a:lnTo>
                  <a:pt x="1000" y="2000"/>
                </a:lnTo>
                <a:cubicBezTo>
                  <a:pt x="1466" y="1380"/>
                  <a:pt x="2043" y="893"/>
                  <a:pt x="2729" y="540"/>
                </a:cubicBezTo>
                <a:cubicBezTo>
                  <a:pt x="3435" y="180"/>
                  <a:pt x="4192" y="0"/>
                  <a:pt x="4999" y="0"/>
                </a:cubicBezTo>
                <a:cubicBezTo>
                  <a:pt x="5679" y="0"/>
                  <a:pt x="6329" y="130"/>
                  <a:pt x="6949" y="390"/>
                </a:cubicBezTo>
                <a:cubicBezTo>
                  <a:pt x="7541" y="643"/>
                  <a:pt x="8069" y="1001"/>
                  <a:pt x="8533" y="1465"/>
                </a:cubicBezTo>
                <a:cubicBezTo>
                  <a:pt x="8996" y="1928"/>
                  <a:pt x="9354" y="2456"/>
                  <a:pt x="9608" y="3050"/>
                </a:cubicBezTo>
                <a:cubicBezTo>
                  <a:pt x="9868" y="3670"/>
                  <a:pt x="9998" y="4320"/>
                  <a:pt x="9998" y="5000"/>
                </a:cubicBezTo>
                <a:lnTo>
                  <a:pt x="8998" y="5000"/>
                </a:lnTo>
                <a:cubicBezTo>
                  <a:pt x="8998" y="4273"/>
                  <a:pt x="8814" y="3600"/>
                  <a:pt x="8448" y="2980"/>
                </a:cubicBezTo>
                <a:cubicBezTo>
                  <a:pt x="8094" y="2380"/>
                  <a:pt x="7618" y="1903"/>
                  <a:pt x="7019" y="1550"/>
                </a:cubicBezTo>
                <a:cubicBezTo>
                  <a:pt x="6399" y="1183"/>
                  <a:pt x="5725" y="1000"/>
                  <a:pt x="4999" y="1000"/>
                </a:cubicBezTo>
                <a:moveTo>
                  <a:pt x="0" y="5000"/>
                </a:moveTo>
                <a:lnTo>
                  <a:pt x="1000" y="5000"/>
                </a:lnTo>
                <a:cubicBezTo>
                  <a:pt x="1000" y="5726"/>
                  <a:pt x="1183" y="6400"/>
                  <a:pt x="1550" y="7020"/>
                </a:cubicBezTo>
                <a:cubicBezTo>
                  <a:pt x="1903" y="7620"/>
                  <a:pt x="2379" y="8096"/>
                  <a:pt x="2979" y="8450"/>
                </a:cubicBezTo>
                <a:cubicBezTo>
                  <a:pt x="3599" y="8816"/>
                  <a:pt x="4272" y="9000"/>
                  <a:pt x="4999" y="9000"/>
                </a:cubicBezTo>
                <a:cubicBezTo>
                  <a:pt x="5672" y="9000"/>
                  <a:pt x="6305" y="8840"/>
                  <a:pt x="6899" y="8520"/>
                </a:cubicBezTo>
                <a:cubicBezTo>
                  <a:pt x="7471" y="8213"/>
                  <a:pt x="7941" y="7790"/>
                  <a:pt x="8308" y="7250"/>
                </a:cubicBezTo>
                <a:lnTo>
                  <a:pt x="6999" y="7250"/>
                </a:lnTo>
                <a:lnTo>
                  <a:pt x="6999" y="6250"/>
                </a:lnTo>
                <a:lnTo>
                  <a:pt x="9998" y="6250"/>
                </a:lnTo>
                <a:lnTo>
                  <a:pt x="9998" y="9250"/>
                </a:lnTo>
                <a:lnTo>
                  <a:pt x="8998" y="9250"/>
                </a:lnTo>
                <a:lnTo>
                  <a:pt x="8998" y="8000"/>
                </a:lnTo>
                <a:cubicBezTo>
                  <a:pt x="8531" y="8620"/>
                  <a:pt x="7955" y="9106"/>
                  <a:pt x="7269" y="9460"/>
                </a:cubicBezTo>
                <a:cubicBezTo>
                  <a:pt x="6562" y="9820"/>
                  <a:pt x="5805" y="10000"/>
                  <a:pt x="4999" y="10000"/>
                </a:cubicBezTo>
                <a:cubicBezTo>
                  <a:pt x="4319" y="10000"/>
                  <a:pt x="3669" y="9870"/>
                  <a:pt x="3049" y="9610"/>
                </a:cubicBezTo>
                <a:cubicBezTo>
                  <a:pt x="2456" y="9356"/>
                  <a:pt x="1928" y="8998"/>
                  <a:pt x="1465" y="8535"/>
                </a:cubicBezTo>
                <a:cubicBezTo>
                  <a:pt x="1001" y="8071"/>
                  <a:pt x="643" y="7543"/>
                  <a:pt x="390" y="6950"/>
                </a:cubicBezTo>
                <a:cubicBezTo>
                  <a:pt x="130" y="6330"/>
                  <a:pt x="0" y="5680"/>
                  <a:pt x="0" y="5000"/>
                </a:cubicBez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11" name="TextBox 11"/>
          <p:cNvSpPr txBox="true"/>
          <p:nvPr/>
        </p:nvSpPr>
        <p:spPr>
          <a:xfrm flipH="false" flipV="false" rot="0">
            <a:off x="934408" y="2344936"/>
            <a:ext cx="1848132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"驯养"与进化机制</a:t>
            </a:r>
            <a:endParaRPr lang="en-US" sz="1100"/>
          </a:p>
        </p:txBody>
      </p:sp>
      <p:sp>
        <p:nvSpPr>
          <p:cNvPr id="12" name="TextBox 12"/>
          <p:cNvSpPr txBox="true"/>
          <p:nvPr/>
        </p:nvSpPr>
        <p:spPr>
          <a:xfrm flipH="false" flipV="false" rot="0">
            <a:off x="676106" y="3238500"/>
            <a:ext cx="20949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13" name="TextBox 13"/>
          <p:cNvSpPr txBox="true"/>
          <p:nvPr/>
        </p:nvSpPr>
        <p:spPr>
          <a:xfrm flipH="false" flipV="false" rot="0">
            <a:off x="999875" y="3257550"/>
            <a:ext cx="4761310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建立任务负面清单，明确界定高风险场景（如学术评价、纪律处分）中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智能体仅能提供辅助建议，严禁自动决策。</a:t>
            </a:r>
            <a:endParaRPr/>
          </a:p>
        </p:txBody>
      </p:sp>
      <p:sp>
        <p:nvSpPr>
          <p:cNvPr id="14" name="TextBox 14"/>
          <p:cNvSpPr txBox="true"/>
          <p:nvPr/>
        </p:nvSpPr>
        <p:spPr>
          <a:xfrm flipH="false" flipV="false" rot="0">
            <a:off x="676106" y="4804470"/>
            <a:ext cx="20949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15" name="TextBox 15"/>
          <p:cNvSpPr txBox="true"/>
          <p:nvPr/>
        </p:nvSpPr>
        <p:spPr>
          <a:xfrm flipH="false" flipV="false" rot="0">
            <a:off x="999875" y="4823520"/>
            <a:ext cx="4778272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引入人类反馈强化学习（RLHF），利用师生对智能体回答的点赞或纠错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数据，持续微调本地化业务大模型。</a:t>
            </a:r>
            <a:endParaRPr/>
          </a:p>
        </p:txBody>
      </p:sp>
      <p:sp>
        <p:nvSpPr>
          <p:cNvPr id="16" name="AutoShape 16"/>
          <p:cNvSpPr/>
          <p:nvPr/>
        </p:nvSpPr>
        <p:spPr>
          <a:xfrm flipH="false" flipV="false" rot="0">
            <a:off x="676106" y="5886450"/>
            <a:ext cx="5066033" cy="9525"/>
          </a:xfrm>
          <a:prstGeom prst="line">
            <a:avLst/>
          </a:prstGeom>
          <a:ln w="9525">
            <a:solidFill>
              <a:srgbClr val="C5CDD6">
                <a:alpha val="74901"/>
              </a:srgbClr>
            </a:solidFill>
            <a:prstDash val="solid"/>
            <a:headEnd type="none"/>
            <a:tailEnd type="none"/>
          </a:ln>
        </p:spPr>
      </p:sp>
      <p:sp>
        <p:nvSpPr>
          <p:cNvPr id="17" name="TextBox 17"/>
          <p:cNvSpPr txBox="true"/>
          <p:nvPr/>
        </p:nvSpPr>
        <p:spPr>
          <a:xfrm flipH="false" flipV="false" rot="0">
            <a:off x="676106" y="6010275"/>
            <a:ext cx="506603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74901"/>
                  </a:srgbClr>
                </a:solidFill>
                <a:latin typeface="Inter"/>
                <a:ea typeface="Inter"/>
                <a:cs typeface="Inter"/>
              </a:rPr>
              <a:t>RLHF · NEGATIVE LIST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 flipH="false" flipV="false" rot="0">
            <a:off x="6227793" y="2078236"/>
            <a:ext cx="5504073" cy="4322564"/>
          </a:xfrm>
          <a:prstGeom prst="rect">
            <a:avLst/>
          </a:prstGeom>
          <a:solidFill>
            <a:srgbClr val="E8EBEF">
              <a:alpha val="100000"/>
            </a:srgbClr>
          </a:solidFill>
          <a:ln w="9525">
            <a:solidFill>
              <a:srgbClr val="C5CDD6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AutoShape 19"/>
          <p:cNvSpPr/>
          <p:nvPr/>
        </p:nvSpPr>
        <p:spPr>
          <a:xfrm flipH="false" flipV="false" rot="0">
            <a:off x="6227793" y="2078236"/>
            <a:ext cx="5504073" cy="9525"/>
          </a:xfrm>
          <a:prstGeom prst="line">
            <a:avLst/>
          </a:prstGeom>
          <a:ln w="28575">
            <a:solidFill>
              <a:srgbClr val="5B8CB8">
                <a:alpha val="100000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AutoShape 20"/>
          <p:cNvSpPr/>
          <p:nvPr/>
        </p:nvSpPr>
        <p:spPr>
          <a:xfrm flipH="false" flipV="false" rot="0">
            <a:off x="6423602" y="2373511"/>
            <a:ext cx="209498" cy="209550"/>
          </a:xfrm>
          <a:custGeom>
            <a:rect b="b" l="l" r="r" t="t"/>
            <a:pathLst>
              <a:path h="10000" w="9998">
                <a:moveTo>
                  <a:pt x="433" y="827"/>
                </a:moveTo>
                <a:lnTo>
                  <a:pt x="4999" y="0"/>
                </a:lnTo>
                <a:lnTo>
                  <a:pt x="9565" y="827"/>
                </a:lnTo>
                <a:cubicBezTo>
                  <a:pt x="9691" y="851"/>
                  <a:pt x="9794" y="906"/>
                  <a:pt x="9876" y="991"/>
                </a:cubicBezTo>
                <a:cubicBezTo>
                  <a:pt x="9957" y="1075"/>
                  <a:pt x="9998" y="1169"/>
                  <a:pt x="9998" y="1273"/>
                </a:cubicBezTo>
                <a:lnTo>
                  <a:pt x="9998" y="5809"/>
                </a:lnTo>
                <a:cubicBezTo>
                  <a:pt x="9998" y="6269"/>
                  <a:pt x="9866" y="6700"/>
                  <a:pt x="9604" y="7100"/>
                </a:cubicBezTo>
                <a:cubicBezTo>
                  <a:pt x="9340" y="7500"/>
                  <a:pt x="8975" y="7827"/>
                  <a:pt x="8509" y="8082"/>
                </a:cubicBezTo>
                <a:lnTo>
                  <a:pt x="4999" y="10000"/>
                </a:lnTo>
                <a:lnTo>
                  <a:pt x="1489" y="8082"/>
                </a:lnTo>
                <a:cubicBezTo>
                  <a:pt x="1022" y="7827"/>
                  <a:pt x="657" y="7500"/>
                  <a:pt x="394" y="7100"/>
                </a:cubicBezTo>
                <a:cubicBezTo>
                  <a:pt x="131" y="6700"/>
                  <a:pt x="0" y="6269"/>
                  <a:pt x="0" y="5809"/>
                </a:cubicBezTo>
                <a:lnTo>
                  <a:pt x="0" y="1273"/>
                </a:lnTo>
                <a:cubicBezTo>
                  <a:pt x="0" y="1169"/>
                  <a:pt x="40" y="1075"/>
                  <a:pt x="122" y="991"/>
                </a:cubicBezTo>
                <a:cubicBezTo>
                  <a:pt x="203" y="906"/>
                  <a:pt x="307" y="851"/>
                  <a:pt x="433" y="827"/>
                </a:cubicBezTo>
                <a:moveTo>
                  <a:pt x="8887" y="1636"/>
                </a:moveTo>
                <a:lnTo>
                  <a:pt x="4999" y="927"/>
                </a:lnTo>
                <a:lnTo>
                  <a:pt x="1111" y="1636"/>
                </a:lnTo>
                <a:lnTo>
                  <a:pt x="1111" y="5809"/>
                </a:lnTo>
                <a:cubicBezTo>
                  <a:pt x="1111" y="6118"/>
                  <a:pt x="1198" y="6406"/>
                  <a:pt x="1372" y="6673"/>
                </a:cubicBezTo>
                <a:cubicBezTo>
                  <a:pt x="1546" y="6939"/>
                  <a:pt x="1788" y="7157"/>
                  <a:pt x="2100" y="7327"/>
                </a:cubicBezTo>
                <a:lnTo>
                  <a:pt x="4999" y="8909"/>
                </a:lnTo>
                <a:lnTo>
                  <a:pt x="7898" y="7327"/>
                </a:lnTo>
                <a:cubicBezTo>
                  <a:pt x="8209" y="7157"/>
                  <a:pt x="8452" y="6939"/>
                  <a:pt x="8626" y="6673"/>
                </a:cubicBezTo>
                <a:cubicBezTo>
                  <a:pt x="8800" y="6406"/>
                  <a:pt x="8887" y="6118"/>
                  <a:pt x="8887" y="5809"/>
                </a:cubicBezTo>
                <a:lnTo>
                  <a:pt x="8887" y="1636"/>
                </a:lnTo>
                <a:moveTo>
                  <a:pt x="4721" y="5536"/>
                </a:moveTo>
                <a:lnTo>
                  <a:pt x="7476" y="3282"/>
                </a:lnTo>
                <a:lnTo>
                  <a:pt x="8254" y="3927"/>
                </a:lnTo>
                <a:lnTo>
                  <a:pt x="4721" y="6818"/>
                </a:lnTo>
                <a:lnTo>
                  <a:pt x="2366" y="4891"/>
                </a:lnTo>
                <a:lnTo>
                  <a:pt x="3155" y="4245"/>
                </a:lnTo>
              </a:path>
            </a:pathLst>
          </a:custGeom>
          <a:solidFill>
            <a:srgbClr val="5B8CB8">
              <a:alpha val="100000"/>
            </a:srgbClr>
          </a:solidFill>
          <a:ln>
            <a:headEnd type="none"/>
            <a:tailEnd type="none"/>
          </a:ln>
        </p:spPr>
      </p:sp>
      <p:sp>
        <p:nvSpPr>
          <p:cNvPr id="21" name="TextBox 21"/>
          <p:cNvSpPr txBox="true"/>
          <p:nvPr/>
        </p:nvSpPr>
        <p:spPr>
          <a:xfrm flipH="false" flipV="false" rot="0">
            <a:off x="6705114" y="2344936"/>
            <a:ext cx="1856316" cy="2571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true" i="false" lang="en-US" strike="noStrike" sz="1800">
                <a:ln/>
                <a:solidFill>
                  <a:srgbClr val="0A1F3D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责任链与合规治理</a:t>
            </a:r>
            <a:endParaRPr lang="en-US" sz="1100"/>
          </a:p>
        </p:txBody>
      </p:sp>
      <p:sp>
        <p:nvSpPr>
          <p:cNvPr id="22" name="TextBox 22"/>
          <p:cNvSpPr txBox="true"/>
          <p:nvPr/>
        </p:nvSpPr>
        <p:spPr>
          <a:xfrm flipH="false" flipV="false" rot="0">
            <a:off x="6446813" y="3238500"/>
            <a:ext cx="20949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01</a:t>
            </a:r>
            <a:endParaRPr lang="en-US" sz="1100"/>
          </a:p>
        </p:txBody>
      </p:sp>
      <p:sp>
        <p:nvSpPr>
          <p:cNvPr id="23" name="TextBox 23"/>
          <p:cNvSpPr txBox="true"/>
          <p:nvPr/>
        </p:nvSpPr>
        <p:spPr>
          <a:xfrm flipH="false" flipV="false" rot="0">
            <a:off x="6770582" y="3257550"/>
            <a:ext cx="4761310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构建人机协同责任链，确保关键业务流转中始终有人工复核节点，重要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结果可追溯至具体责任人与智能体版本。</a:t>
            </a:r>
            <a:endParaRPr/>
          </a:p>
        </p:txBody>
      </p:sp>
      <p:sp>
        <p:nvSpPr>
          <p:cNvPr id="24" name="TextBox 24"/>
          <p:cNvSpPr txBox="true"/>
          <p:nvPr/>
        </p:nvSpPr>
        <p:spPr>
          <a:xfrm flipH="false" flipV="false" rot="0">
            <a:off x="6446813" y="4804470"/>
            <a:ext cx="209498" cy="142875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non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0A1F3D">
                    <a:alpha val="40000"/>
                  </a:srgbClr>
                </a:solidFill>
                <a:latin typeface="Inter"/>
                <a:ea typeface="Inter"/>
                <a:cs typeface="Inter"/>
              </a:rPr>
              <a:t>02</a:t>
            </a:r>
            <a:endParaRPr lang="en-US" sz="1100"/>
          </a:p>
        </p:txBody>
      </p:sp>
      <p:sp>
        <p:nvSpPr>
          <p:cNvPr id="25" name="TextBox 25"/>
          <p:cNvSpPr txBox="true"/>
          <p:nvPr/>
        </p:nvSpPr>
        <p:spPr>
          <a:xfrm flipH="false" flipV="false" rot="0">
            <a:off x="6770582" y="4823520"/>
            <a:ext cx="4742264" cy="413296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统筹发展与安全，建立算法歧视、隐私泄露及学术造假的专项防范机</a:t>
            </a:r>
            <a:endParaRPr lang="en-US" sz="1100"/>
          </a:p>
          <a:p>
            <a:pPr algn="l"/>
            <a:r>
              <a:rPr b="false" i="false" strike="noStrike" sz="1200">
                <a:ln/>
                <a:solidFill>
                  <a:srgbClr val="0A1F3D">
                    <a:alpha val="85098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制，定期开展智能体伦理与安全审计。</a:t>
            </a:r>
            <a:endParaRPr/>
          </a:p>
        </p:txBody>
      </p:sp>
      <p:sp>
        <p:nvSpPr>
          <p:cNvPr id="26" name="AutoShape 26"/>
          <p:cNvSpPr/>
          <p:nvPr/>
        </p:nvSpPr>
        <p:spPr>
          <a:xfrm flipH="false" flipV="false" rot="0">
            <a:off x="6446813" y="5886450"/>
            <a:ext cx="5066033" cy="9525"/>
          </a:xfrm>
          <a:prstGeom prst="line">
            <a:avLst/>
          </a:prstGeom>
          <a:ln w="9525">
            <a:solidFill>
              <a:srgbClr val="C5CDD6">
                <a:alpha val="74901"/>
              </a:srgbClr>
            </a:solidFill>
            <a:prstDash val="solid"/>
            <a:headEnd type="none"/>
            <a:tailEnd type="none"/>
          </a:ln>
        </p:spPr>
      </p:sp>
      <p:sp>
        <p:nvSpPr>
          <p:cNvPr id="27" name="TextBox 27"/>
          <p:cNvSpPr txBox="true"/>
          <p:nvPr/>
        </p:nvSpPr>
        <p:spPr>
          <a:xfrm flipH="false" flipV="false" rot="0">
            <a:off x="6446813" y="6010275"/>
            <a:ext cx="5066033" cy="133350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false" bIns="0" lIns="0" rIns="0" rtlCol="false" tIns="0" vert="horz" wrap="square"/>
          <a:lstStyle/>
          <a:p>
            <a:pPr algn="l">
              <a:defRPr/>
            </a:pPr>
            <a:r>
              <a:rPr b="false" i="false" lang="en-US" strike="noStrike" sz="900">
                <a:ln/>
                <a:solidFill>
                  <a:srgbClr val="5B8CB8">
                    <a:alpha val="74901"/>
                  </a:srgbClr>
                </a:solidFill>
                <a:latin typeface="Inter"/>
                <a:ea typeface="Inter"/>
                <a:cs typeface="Inter"/>
              </a:rPr>
              <a:t>HUMAN-IN-THE-LOOP · AUDIT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true"/>
          </p:cNvPicPr>
          <p:nvPr/>
        </p:nvPicPr>
        <p:blipFill>
          <a:blip r:embed="rId2">
            <a:alphaModFix amt="100000"/>
          </a:blip>
          <a:srcRect b="0" l="0" r="0" t="0"/>
          <a:stretch>
            <a:fillRect/>
          </a:stretch>
        </p:blipFill>
        <p:spPr>
          <a:xfrm flipH="false" flipV="false" rot="0">
            <a:off x="0" y="0"/>
            <a:ext cx="12188952" cy="6858000"/>
          </a:xfrm>
          <a:prstGeom prst="rect">
            <a:avLst/>
          </a:prstGeom>
          <a:ln>
            <a:headEnd type="none"/>
            <a:tailEnd type="none"/>
          </a:ln>
        </p:spPr>
      </p:pic>
      <p:sp>
        <p:nvSpPr>
          <p:cNvPr id="3" name="AutoShape 3"/>
          <p:cNvSpPr/>
          <p:nvPr/>
        </p:nvSpPr>
        <p:spPr>
          <a:xfrm flipH="false" flipV="false" rot="0">
            <a:off x="0" y="0"/>
            <a:ext cx="12188952" cy="6858000"/>
          </a:xfrm>
          <a:prstGeom prst="rect">
            <a:avLst/>
          </a:prstGeom>
          <a:solidFill>
            <a:srgbClr val="0A0A0B">
              <a:alpha val="25098"/>
            </a:srgbClr>
          </a:solidFill>
          <a:ln>
            <a:headEnd type="none"/>
            <a:tailEnd type="none"/>
          </a:ln>
        </p:spPr>
      </p:sp>
      <p:sp>
        <p:nvSpPr>
          <p:cNvPr id="4" name="TextBox 4"/>
          <p:cNvSpPr txBox="true"/>
          <p:nvPr/>
        </p:nvSpPr>
        <p:spPr>
          <a:xfrm flipH="false" flipV="false" rot="0">
            <a:off x="1065045" y="2769989"/>
            <a:ext cx="10058861" cy="7542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true" i="false" lang="en-US" strike="noStrike" sz="5400">
                <a:ln/>
                <a:solidFill>
                  <a:srgbClr val="F1F3F5">
                    <a:alpha val="100000"/>
                  </a:srgbClr>
                </a:solidFill>
                <a:latin typeface="Alibaba PuHuiTi 3.0 55 Regular"/>
                <a:ea typeface="Alibaba PuHuiTi 3.0 55 Regular"/>
                <a:cs typeface="Alibaba PuHuiTi 3.0 55 Regular"/>
              </a:rPr>
              <a:t>拥抱AI时代，重塑校园基建</a:t>
            </a:r>
            <a:endParaRPr lang="en-US" sz="1100"/>
          </a:p>
        </p:txBody>
      </p:sp>
      <p:sp>
        <p:nvSpPr>
          <p:cNvPr id="5" name="TextBox 5"/>
          <p:cNvSpPr txBox="true"/>
          <p:nvPr/>
        </p:nvSpPr>
        <p:spPr>
          <a:xfrm flipH="false" flipV="false" rot="0">
            <a:off x="2680617" y="3752850"/>
            <a:ext cx="6827718" cy="335161"/>
          </a:xfrm>
          <a:prstGeom prst="rect">
            <a:avLst/>
          </a:prstGeom>
          <a:ln>
            <a:headEnd type="none"/>
            <a:tailEnd type="none"/>
          </a:ln>
        </p:spPr>
        <p:txBody>
          <a:bodyPr anchor="t" anchorCtr="true" bIns="0" lIns="0" rIns="0" rtlCol="false" tIns="0" vert="horz" wrap="square"/>
          <a:lstStyle/>
          <a:p>
            <a:pPr algn="ctr">
              <a:defRPr/>
            </a:pPr>
            <a:r>
              <a:rPr b="false" i="false" lang="en-US" strike="noStrike" sz="1600">
                <a:ln/>
                <a:solidFill>
                  <a:srgbClr val="F1F3F5">
                    <a:alpha val="87843"/>
                  </a:srgbClr>
                </a:solidFill>
                <a:latin typeface="FZYaYiHei GB18030L2 R"/>
                <a:ea typeface="FZYaYiHei GB18030L2 R"/>
                <a:cs typeface="FZYaYiHei GB18030L2 R"/>
              </a:rPr>
              <a:t>感谢聆听与交流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